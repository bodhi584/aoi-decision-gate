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792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CASE STUDY: INTELLIGENT SYSTEMS IN 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0" y="792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REVISED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2232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AOI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3240000"/>
            <a:ext cx="1090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B8C4D6"/>
                </a:solidFill>
                <a:latin typeface="Arial"/>
              </a:rPr>
              <a:t>AI decision gate for false-call reduction in automated optical inspection of electronics assembly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Yu Han · Melisa Subasi · Meron Hagos · Alejandro Rivas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594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B8C4D6"/>
                </a:solidFill>
                <a:latin typeface="Arial"/>
              </a:rPr>
              <a:t>Team 1 · Guided by Dr. Hamidreza Heidari · 23 October 2026 · github.com/bodhi584/aoi-decision-gate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WHERE THE TOPIC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Based on the lecture example: Siemens, p. 18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</a:t>
            </a:r>
          </a:p>
        </p:txBody>
      </p:sp>
      <p:pic>
        <p:nvPicPr>
          <p:cNvPr id="7" name="Picture 6" descr="p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800000"/>
            <a:ext cx="4798588" cy="370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76000" y="1800000"/>
            <a:ext cx="2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555F6D"/>
                </a:solidFill>
                <a:latin typeface="Arial"/>
              </a:rPr>
              <a:t>Lecture slide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2000" y="1800000"/>
            <a:ext cx="2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Our project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76000" y="2124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48000" y="2124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AI-powered quality control and defect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12000" y="2124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84000" y="2124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AI decides: real defect or false call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76000" y="2682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48000" y="2682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Application in manufacturing processes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12000" y="2682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84000" y="2682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SMT electronics assembly, after soldering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76000" y="3240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48000" y="3240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AI-powered computer vision systems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12000" y="3240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84000" y="3240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Works on the AOI camera system’s measurements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76000" y="3798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48000" y="3798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Advanced image recognition algorithms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12000" y="3798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84000" y="3798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Classifier on AOI image measurements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76000" y="4356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8000" y="4356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Automated inspection of electronic components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12000" y="4356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84000" y="4356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Real Siemens line data (Bavaria)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76000" y="4914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8000" y="4914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Improved quality, reduced waste, efficiency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12000" y="4914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84000" y="4914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Fewer manual checks, no extra defects released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THE INDUSTRIAL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Too many false alarms after optical inspection, today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3384000" cy="3600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9599" y="2015999"/>
            <a:ext cx="302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Arial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9599" y="3240000"/>
            <a:ext cx="3024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of the boards flagged by the AOI machine are fine (false calls) in the Siemens line data.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Every one goes to a manual inspection station: “a major manual labour effort” (Pfab et al. 2024, Siemens).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5598" y="1800000"/>
            <a:ext cx="7236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5598" y="1925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21 Oct 2026 · Siemens and NVIDIA, Erlangen electronics factory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5598" y="2250000"/>
            <a:ext cx="6876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AI second check of AOI results: is it a real defect or a false call?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Project targets: about 40 % fewer false calls, reduced manual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8" y="3671999"/>
            <a:ext cx="7236000" cy="17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5598" y="3797998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19 Oct 2026 · Siemens, Erlangen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5598" y="4121999"/>
            <a:ext cx="6876000" cy="11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Factories in high-wage countries need 7–9 % more productivity every year.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invests €500 million in Erlangen as a showcase for AI in manufacturing.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599" y="5508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Sources: Siemens press release, 21 Oct 2026; technology.org, 20 Oct 2026; Pfab et al. 2024, Data in Brief 53:110110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KEY FACTORS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decides whether the gate helps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00000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False-call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3599" y="1800000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Each false call costs operator time at the manual station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537999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537999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Missed defects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3599" y="2537999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A released defective board reaches the customer: must stay ≤ 1 %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75998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75998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Drift over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3599" y="3275998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Materials, settings and products change; last month’s model may not fit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4013997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4013997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Class imbalance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53599" y="4013997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Only about 1 % of flagged joints are real defects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751996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751996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Label 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3599" y="4751996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Labels come from operators and may contain errors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INPUT → SYSTEM →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Where the gate sits on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5</a:t>
            </a:r>
          </a:p>
        </p:txBody>
      </p:sp>
      <p:pic>
        <p:nvPicPr>
          <p:cNvPr id="7" name="Picture 6" descr="syst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99" y="1655999"/>
            <a:ext cx="9360000" cy="27043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3599" y="4428000"/>
            <a:ext cx="352800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3599" y="455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3599" y="4878000"/>
            <a:ext cx="316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AOI measurements of each flagged joint (~70 values), inspection type, component type, error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3599" y="4428000"/>
            <a:ext cx="3528000" cy="1188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3599" y="455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3599" y="4878000"/>
            <a:ext cx="316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Classifier trained on past manual-inspection results + release threshold (≤ 1 % defective boards released)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599" y="4428000"/>
            <a:ext cx="352800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3599" y="455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Output → 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3599" y="4878000"/>
            <a:ext cx="316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Release or send to manual inspection → less manual work, same quality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CRISP-DM, evaluated by a replay simulation of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1599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1 · Business understanding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599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false-call problem, KPIs, limits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49598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57598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2 · Data understanding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7598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structure, imbalance, drift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7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3597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3 · Data preparation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3597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joints → boards, strict time order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1596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596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4 · Modelling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9596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gradient-boosted trees; neural network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7595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5595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5 · Evaluation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5595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replay simulation, production KPIs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93594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1594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6 · 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1594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replay demo, run instructions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599" y="3384000"/>
            <a:ext cx="109080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599" y="350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Replay simulation (our “baseline simulation”)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599" y="3834000"/>
            <a:ext cx="10548000" cy="147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132 recorded days are played back in time order. Each day the gate decides every flagged board with a model trained only on earlier days, exactly as on the real line.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We compare update policies (train once, retrain weekly on all past days, retrain on recent days) and measure released false calls, released defects and saved inspections.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Why not a random split? It mixes future and past and overstates what a factory gets (next slides).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Real production data published by Siemens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3599" y="176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Pfab, Eichler, Mallandur, Rothering (2024), Siemens AG, Data in Brief 53, 110110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30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30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3599" y="230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SMT production line of Siemens AG in Bavaria, 132 days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284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284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3599" y="284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440,274 flagged solder joints on 39,742 boards; 5 inspection types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38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38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3599" y="338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~70 AOI measurements + component type, error code, angle (anonymised, scaled 0–1)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392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392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Label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3599" y="392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Manual inspection result: false call or true defect (875 defective boards)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599" y="446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3599" y="446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Drift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3599" y="446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Early vs. late days separable from measurements alone: AUROC 0.966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599" y="500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599" y="500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Licence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3599" y="500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CC BY-NC 3.0 (Siemens AG): downloaded by script, not redistributed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FEASIBILITY: BASELINE ALREADY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Time order is much harder than a random split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8</a:t>
            </a:r>
          </a:p>
        </p:txBody>
      </p:sp>
      <p:pic>
        <p:nvPicPr>
          <p:cNvPr id="7" name="Picture 6" descr="chart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5297143" cy="370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01599" y="1800000"/>
            <a:ext cx="5220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81599" y="1925999"/>
            <a:ext cx="48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1599" y="2250000"/>
            <a:ext cx="486000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Gradient-boosted trees, trained on the first 70 % of records.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Share of false-call boards that could be released while 99 % of defective boards still go to manual inspection.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Random split: 29 %, AUROC 0.966. Time order: 8.2 %, AUROC 0.889.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line changes over time: drift is the real challenge, and papers with random splits overstate results.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FEASIBILITY: FIRST REPLAY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Thresholds from past days do not hold on later days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9</a:t>
            </a:r>
          </a:p>
        </p:txBody>
      </p:sp>
      <p:pic>
        <p:nvPicPr>
          <p:cNvPr id="7" name="Picture 6" descr="chart_r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6180000" cy="370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93599" y="1800000"/>
            <a:ext cx="4428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73599" y="1925999"/>
            <a:ext cx="40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3599" y="2250000"/>
            <a:ext cx="406800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39 production days, 17,366 flagged boards replayed.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Up to 16 % of false-call boards released (2,750 manual inspections saved).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But 2.4–4.6 % of defective boards released: the 1 % limit is broken by drift.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→ Core of the project: drift detection and update policy.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GOALS AND KPIS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Fixed now, before the main experiments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3599" y="1800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55F6D"/>
                </a:solidFill>
                <a:latin typeface="Arial"/>
              </a:rPr>
              <a:t>Baseline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53599" y="18000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Target (12 Jan)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599" y="2160000"/>
            <a:ext cx="10908000" cy="6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3599" y="2160000"/>
            <a:ext cx="5040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4213D"/>
                </a:solidFill>
                <a:latin typeface="Arial"/>
              </a:rPr>
              <a:t>Defective boards released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3599" y="2160000"/>
            <a:ext cx="2268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555F6D"/>
                </a:solidFill>
                <a:latin typeface="Arial"/>
              </a:rPr>
              <a:t>2.4–4.6 %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53599" y="2160000"/>
            <a:ext cx="3060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2F6DB5"/>
                </a:solidFill>
                <a:latin typeface="Arial"/>
              </a:rPr>
              <a:t>≤ 1 %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2916000"/>
            <a:ext cx="10908000" cy="6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2916000"/>
            <a:ext cx="5040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4213D"/>
                </a:solidFill>
                <a:latin typeface="Arial"/>
              </a:rPr>
              <a:t>False-call boards released (inspections saved)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3599" y="2916000"/>
            <a:ext cx="2268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555F6D"/>
                </a:solidFill>
                <a:latin typeface="Arial"/>
              </a:rPr>
              <a:t>8.2 %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53599" y="2916000"/>
            <a:ext cx="3060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2F6DB5"/>
                </a:solidFill>
                <a:latin typeface="Arial"/>
              </a:rPr>
              <a:t>≥ 25 %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599" y="3672000"/>
            <a:ext cx="10908000" cy="6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3599" y="3672000"/>
            <a:ext cx="5040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4213D"/>
                </a:solidFill>
                <a:latin typeface="Arial"/>
              </a:rPr>
              <a:t>Drift alarm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3599" y="3672000"/>
            <a:ext cx="2268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555F6D"/>
                </a:solidFill>
                <a:latin typeface="Arial"/>
              </a:rPr>
              <a:t>none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53599" y="3672000"/>
            <a:ext cx="3060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2F6DB5"/>
                </a:solidFill>
                <a:latin typeface="Arial"/>
              </a:rPr>
              <a:t>alarm when performance drops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599" y="4428000"/>
            <a:ext cx="10908000" cy="6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3599" y="4428000"/>
            <a:ext cx="5040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4213D"/>
                </a:solidFill>
                <a:latin typeface="Arial"/>
              </a:rPr>
              <a:t>Model comparison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3599" y="4428000"/>
            <a:ext cx="2268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555F6D"/>
                </a:solidFill>
                <a:latin typeface="Arial"/>
              </a:rPr>
              <a:t>trees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3599" y="4428000"/>
            <a:ext cx="3060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2F6DB5"/>
                </a:solidFill>
                <a:latin typeface="Arial"/>
              </a:rPr>
              <a:t>trees vs. neural network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SPECIFIC CONDITIONS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covers, and what it does not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256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Conditions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4896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Siemens SMT line, five inspection types, 132 days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Gate placed after the AOI, before manual inspection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Decisions per board; at most 1 % defective boards released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Public data only, no personal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29599" y="1800000"/>
            <a:ext cx="5292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9599" y="1925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9599" y="2250000"/>
            <a:ext cx="4932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Measurements anonymised: no physical names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Labels from operators may contain errors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No images; no other lines or plants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Licence non-commercial (course use only)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Risk: drift limits the release rate → fallback: report what works and why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TECHNOLOGY AND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Everything on GitHub, reproducible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256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Tech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4896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Python · pandas · scikit-learn (gradient-boosted trees)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PyTorch (neural network, from P3)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pytest + GitHub Actions: tests on every push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Neural networks (lecture p. 12, 17) · big data processing (p. 10)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No large language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29599" y="1800000"/>
            <a:ext cx="5292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9599" y="1925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Deliverables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9599" y="2250000"/>
            <a:ext cx="4932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github.com/bodhi584/aoi-decision-gate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Decision gate + replay simulation (code, tests, CI)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Result files for every number we report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Replay demo + demo video (P5)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Final report and presentation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Milestones follow the Software &amp; Simulation track (p. 33)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13</a:t>
            </a:r>
          </a:p>
        </p:txBody>
      </p:sp>
      <p:pic>
        <p:nvPicPr>
          <p:cNvPr id="7" name="Picture 6" descr="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655999"/>
            <a:ext cx="10800000" cy="414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Sources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84000"/>
            <a:ext cx="10908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Pfab, K., Eichler, R., Mallandur, A., Rothering, M. (2024). Data of automated optical inspection of surface-mounted technology electronic production. Data in Brief 53, 110110.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Siemens (21 Oct 2026). Siemens and NVIDIA advance AI-powered PCB inspection from digital twin to factory. Press release.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technology.org (20 Oct 2026). Siemens aims to raise factory automation to 80 % with AI.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Albayari, J., Patra, P., Patel, D., Santos, D. (2025). Enhancing false call detection in automated optical inspection using XGBoost classifier and XAI algorithms. FAIM 2025, Springer.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Schmitt, J., Bönig, J., Borggräfe, T., Beitinger, G., Deuse, J. (2020). Predictive model-based quality inspection using machine learning and edge cloud computing. Advanced Engineering Informatics 45, 101101.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Chapman, P. et al. (2000). CRISP-DM 1.0: Step-by-step data mining guide. SPSS.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Lecture slides, Case Study Intelligent Systems in Production, p. 10, 12, 17, 18, 33.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2340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3420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B8C4D6"/>
                </a:solidFill>
                <a:latin typeface="Arial"/>
              </a:rPr>
              <a:t>github.com/bodhi584/aoi-decision-gate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Team 1 · Yu Han · Melisa Subasi · Meron Hagos · Alejandro Rivas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