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792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CASE STUDY: INTELLIGENT SYSTEMS IN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0" y="79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REVISED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1944000"/>
            <a:ext cx="10908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Binary Classification of AOI Alarms into True Defects and False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3744000"/>
            <a:ext cx="1090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B8C4D6"/>
                </a:solidFill>
                <a:latin typeface="Arial"/>
              </a:rPr>
              <a:t>Second check of AOI results with supervised machine learning (Siemens production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Yu Han · Melisa Subasi · Meron Hagos · Alejandro Rivas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594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B8C4D6"/>
                </a:solidFill>
                <a:latin typeface="Arial"/>
              </a:rPr>
              <a:t>Team 1 · Guided by Dr. Hamidreza Heidari · 23 October 2026 · github.com/bodhi584/aoi-decision-gate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Too many false alarms after automated inspection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3384000" cy="3671999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599" y="1944000"/>
            <a:ext cx="302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599" y="3168000"/>
            <a:ext cx="3024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the boards flagged by the AOI machine are fine (false calls) in real Siemens production data.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Every flagged board goes to a manual inspection station.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5598" y="1764000"/>
            <a:ext cx="72360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5598" y="18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Based on the lecture example (p. 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5598" y="2214000"/>
            <a:ext cx="6876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“Siemens – Quality Control and Defect Detection”. Key motivation: fewer manual re-inspections of false calls, while true defects are still caught.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8" y="3276000"/>
            <a:ext cx="7236000" cy="1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5598" y="3401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 current problem: Siemens and NVIDIA, Erlangen, 21 Oct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5598" y="3726000"/>
            <a:ext cx="6876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“AI second check of AOI results”: real defect or false call? Target: about 40 % fewer false calls.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5598" y="4464000"/>
            <a:ext cx="7236000" cy="9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5598" y="45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Our 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5598" y="4914000"/>
            <a:ext cx="68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Classify each AOI alarm as true defect or false call, so that fewer false calls go to manual inspection while at most 1 % of true defects are missed.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ONE GOAL: FEWER FALSE CALLS TO MANUAL INSPECTION, AT MOST 1 % OF TRUE DEFECTS MISSED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Input → System → Output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599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7599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AOI alarm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599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one flagged board: about 70 AOI measurements per flagged solder joint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component type, AOI error code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23599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5598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SYSTEM (OURS)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5598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9598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Binary 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9598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supervised machine learning, trained on past manual-inspection results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classification threshold: recall ≥ 99 %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175598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7597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OUTPUT: IS THE AOI ALARM REAL?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17597" y="176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1597" y="183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False call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→ skip manual inspection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7597" y="275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1597" y="282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True defect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→ manual inspection, repair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599" y="3780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Key factors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False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each one costs operator time at the manual station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0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Missed defects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 missed defective board reaches the customer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9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Changes over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line changes; a model must keep 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will and will not do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93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105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This project aims to reduce false calls after automated optical inspection: a binary classifier decides for each AOI alarm whether it is a true defect or a false call, while at most 1 % of true defects are missed.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Includes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Data preprocessing: Siemens AOI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Training three classifiers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Day-by-day simulation on recorded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Evaluation: recall, specificity, confusion matrix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55F6D"/>
                </a:solidFill>
                <a:latin typeface="Arial"/>
              </a:rPr>
              <a:t>Out of scope (current phase)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Real hardware deployment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Integration with physical AOI machines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Changing the AOI inspection itself (camera, limits)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Conditions and limitations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Siemens line, 132 days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Measurements anonymised (no physical names)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from operators may contain errors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Licence: non-commercial (course use)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OBJECTIVES AND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will achieve, and how we measure it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76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1599" y="176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Reduce false calls: train three classifiers to separate false calls from true defects.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39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7599" y="239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1599" y="239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Keep quality: set the classification threshold so that recall of true defects is at least 99 %.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02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599" y="302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1599" y="302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Test as in operation: day-by-day simulation on the recorded Siemens data, models trained on earlier days only.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65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7599" y="365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1599" y="365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 the three models and identify the most suitable 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5599" y="1764000"/>
            <a:ext cx="3996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5599" y="1872000"/>
            <a:ext cx="37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2F6DB5"/>
                </a:solidFill>
                <a:latin typeface="Arial"/>
              </a:rPr>
              <a:t>Requirements (positive class = true defect)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5599" y="2520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≥ 99 %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3599" y="2520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recall: true defects classified as true defect (≤ 1 % missed)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5599" y="3816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≥ 20 %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3599" y="3816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specificity: false calls classified as false call = manual inspections saved (baseline 6.4 %)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Data science tools from the lecture (p. 22)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8000"/>
                <a:gridCol w="2700000"/>
                <a:gridCol w="5940000"/>
              </a:tblGrid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Process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Tool / Framework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preparation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pandas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Load the Siemens AOI data, group joints into boards, keep time order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Model training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Logistic regression, random forest, neural network (one hidden layer)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Simulation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Day-by-day simulation on recorded production days (walk-forward)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Evaluation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scikit-learn, pandas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Recall, specificity, confusion matrix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Visualization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matplotlib, Jupyter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Graphical result representation, step-by-step notebook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sharing and tests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GitHub, pytest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Repository, tests on every change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FLOW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Siemens data to the KPIs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Siemens AOI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132 days, 39,742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4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Data preparation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boards, time order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Model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3 models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2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recall ≥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day by day, recorded data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882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9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Classification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true defect / false call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603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1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1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recall, specificity</a:t>
            </a:r>
          </a:p>
        </p:txBody>
      </p:sp>
      <p:sp>
        <p:nvSpPr>
          <p:cNvPr id="33" name="Left Arrow 32"/>
          <p:cNvSpPr/>
          <p:nvPr/>
        </p:nvSpPr>
        <p:spPr>
          <a:xfrm>
            <a:off x="324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Demo and 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video, report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227599" y="3131999"/>
            <a:ext cx="288000" cy="468000"/>
          </a:xfrm>
          <a:prstGeom prst="down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599" y="5004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Blue boxes: the system we build. White boxes: data and project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WORKING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CRISP-DM in four steps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1 · Data preparation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Collected Siemens AOI data: flagged boards, defective &amp; false call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Grouped solder joints into boards; encoded categories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Split data in time order into train, validate, test sets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2 · Model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logistic regression as baseline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random forest and a neural network (one hidden layer)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Set the classification threshold: recall ≥ 99 %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3 · Simulation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Simulated operation day by day on the recorded days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Each day classified by a model trained on earlier days only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 classified as false call virtually skip manual inspection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4 · Evaluation and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Analyzed recall, specificity and the confusion matrix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Compared the three models to identify the best-performing one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Error analysis; demo video and 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FIRST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Day-by-day simulation on recorded data: three classifiers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result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7740000" cy="2941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3599" y="1764000"/>
            <a:ext cx="2988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13599" y="1889999"/>
            <a:ext cx="26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3599" y="2214000"/>
            <a:ext cx="2628000" cy="21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Specificity today: 6.5–15.0 % (false calls correctly classified).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Recall today: 96.3–97.8 % (2.2–3.7 % of true defects missed): below the 99 % requirement.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Next: recall ≥ 99 % with specificity ≥ 20 %.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BILL OF MATERIALS (BOM)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needs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519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5148000"/>
                <a:gridCol w="1800000"/>
                <a:gridCol w="1620000"/>
              </a:tblGrid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Specification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Quantity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set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Siemens AOI data, Mendeley (CC BY-NC 3.0), 333 MB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Computer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Normal laptop or Google Colab (no graphics card needed)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and open-source libraries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hosting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 repository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453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F6DB5"/>
                </a:solidFill>
                <a:latin typeface="Arial"/>
              </a:rPr>
              <a:t>Total cost: 0 €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EXPECTED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hand in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Successfully trained binary classifier for AOI alarms (Python software prototype)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Day-by-day simulation on the recorded data, with recall and specificity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Comparative performance metrics for the three classifiers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Identification of the most suitable model, with limits and error analysis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Demo video, run instructions, report, public GitHub repository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SAFETY &amp; ETHICAL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Keeping it safe and realistic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Simulation-only environment; no physical machinery risk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Dataset is anonymized by Siemens (no personal data); used under its licence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Ethical principles followed: transparency, fairness, accountability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Avoid dataset bias (time-ordered split) and ensure reproducibility of results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Safety first in the design: recall of true defects ≥ 99 %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public data set to a real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 · Industry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An electronics plant shares AOI and manual-inspection records.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1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 · AOI interface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Read each board’s AOI result from the machine; send the classification to the manual inspection station.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0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3 · Shadow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classifier runs next to the operators and only logs its results.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9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4 ·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Quality engineers compare the logs before any board skips manual inspection.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Sources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84000"/>
            <a:ext cx="1090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Pfab, K., Eichler, R., Mallandur, A., Rothering, M. (2024). Data of automated optical inspection of surface-mounted technology electronic production. Data in Brief 53, 110110.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(21 Oct 2026). Siemens and NVIDIA advance AI-powered PCB inspection from digital twin to factory. Press release.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Albayari, J., Patra, P., Patel, D., Santos, D. (2025). Enhancing false call detection in automated optical inspection using XGBoost classifier and XAI algorithms. FAIM 2025, Springer.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Pedregosa, F. et al. (2011). Scikit-learn: Machine learning in Python. Journal of Machine Learning Research 12, 2825–2830.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Chapman, P. et al. (2000). CRISP-DM 1.0: Step-by-step data mining guide. SPSS.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Lecture slides, Case Study Intelligent Systems in Production, p. 8, 12, 18, 22, 33.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Software &amp; Simulation project, S1–S6 (lecture p. 8, 33)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Binary Classification of AOI Alarms into True Defects and False Calls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15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599" y="1620000"/>
            <a:ext cx="9000000" cy="345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1980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B8C4D6"/>
                </a:solidFill>
                <a:latin typeface="Arial"/>
              </a:rPr>
              <a:t>Repository link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2376000"/>
            <a:ext cx="109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github.com/bodhi584/aoi-decision-gate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3600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1 · Yu Han · Melisa Subasi · Meron Hagos · Alejandro Rivas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Binary Classification of AOI Alarms into True Defects and False Calls</dc:title>
  <dc:subject/>
  <dc:creator>Team 1</dc:creator>
  <cp:keywords/>
  <dc:description>generated using python-pptx</dc:description>
  <cp:lastModifiedBy>Yu Han</cp:lastModifiedBy>
  <cp:revision>1</cp:revision>
  <dcterms:created xsi:type="dcterms:W3CDTF">2013-01-27T09:14:16Z</dcterms:created>
  <dcterms:modified xsi:type="dcterms:W3CDTF">2013-01-27T09:15:58Z</dcterms:modified>
  <cp:category/>
</cp:coreProperties>
</file>