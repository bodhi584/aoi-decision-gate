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792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CASE STUDY: INTELLIGENT SYSTEMS IN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0" y="79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REVISED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2232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AOI Decision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3240000"/>
            <a:ext cx="1090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B8C4D6"/>
                </a:solidFill>
                <a:latin typeface="Arial"/>
              </a:rPr>
              <a:t>AI decision gate for false-call reduction in automated optical inspection of electronics assembly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Yu Han · Melisa Subasi · Meron Hagos · Alejandro Rivas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594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B8C4D6"/>
                </a:solidFill>
                <a:latin typeface="Arial"/>
              </a:rPr>
              <a:t>Team 1 · Guided by Dr. Hamidreza Heidari · 23 October 2026 · github.com/bodhi584/aoi-decision-gate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WHERE THE TOPIC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Based on the lecture example: Siemens, p. 18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</a:t>
            </a:r>
          </a:p>
        </p:txBody>
      </p:sp>
      <p:pic>
        <p:nvPicPr>
          <p:cNvPr id="7" name="Picture 6" descr="p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800000"/>
            <a:ext cx="4798588" cy="370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76000" y="1800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555F6D"/>
                </a:solidFill>
                <a:latin typeface="Arial"/>
              </a:rPr>
              <a:t>Lecture slide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2000" y="1800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Our project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76000" y="2124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48000" y="2124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AI-powered quality control and defect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12000" y="2124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84000" y="2124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AI decides: real defect or false 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76000" y="2682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48000" y="2682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Application in manufacturing processes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12000" y="2682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84000" y="2682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SMT electronics assembly, after soldering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76000" y="3240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48000" y="3240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AI-powered computer vision systems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12000" y="3240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84000" y="3240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Works on the AOI camera system’s measurements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76000" y="3798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48000" y="3798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Advanced image recognition algorithms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12000" y="3798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84000" y="3798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Classifier on AOI image measurements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76000" y="4356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8000" y="4356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Automated inspection of electronic components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12000" y="4356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84000" y="4356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Real Siemens line data (Bavaria)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76000" y="4914000"/>
            <a:ext cx="25920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8000" y="4914000"/>
            <a:ext cx="2484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Improved quality, reduced waste, efficiency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12000" y="4914000"/>
            <a:ext cx="2736000" cy="48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84000" y="4914000"/>
            <a:ext cx="2628000" cy="4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Fewer manual checks, no extra defects released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THE INDUSTRIAL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Too many false alarms after optical inspection, today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3384000" cy="3600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599" y="2015999"/>
            <a:ext cx="302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599" y="3240000"/>
            <a:ext cx="3024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the boards flagged by the AOI machine are fine (false calls) in the Siemens line data.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Every one goes to a manual inspection station: “a major manual labour effort” (Pfab et al. 2024, Siemens).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5598" y="1800000"/>
            <a:ext cx="7236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5598" y="1925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21 Oct 2026 · Siemens and NVIDIA, Erlangen electronics factory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5598" y="2250000"/>
            <a:ext cx="6876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AI second check of AOI results: is it a real defect or a false call?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Project targets: about 40 % fewer false calls, reduced manual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8" y="3671999"/>
            <a:ext cx="7236000" cy="17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5598" y="3797998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19 Oct 2026 · Siemens, Erlangen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5598" y="4121999"/>
            <a:ext cx="6876000" cy="11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Factories in high-wage countries need 7–9 % more productivity every year.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invests €500 million in Erlangen as a showcase for AI in manufacturing.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599" y="5508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Sources: Siemens press release, 21 Oct 2026; technology.org, 20 Oct 2026; Pfab et al. 2024, Data in Brief 53:110110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will and will not do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93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105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Build and test an AI decision gate that releases AOI false calls on a real Siemens line, while at most 1 % of defective boards are released, also when the line changes over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808000"/>
            <a:ext cx="5256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933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Includes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3258000"/>
            <a:ext cx="4896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AOI data (132 days, one line)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Decision gate: trees vs. neural network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Replay simulation of the line in time order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Drift alarm and update policies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Error analysis, replay demo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9599" y="2808000"/>
            <a:ext cx="5292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9599" y="2933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55F6D"/>
                </a:solidFill>
                <a:latin typeface="Arial"/>
              </a:rPr>
              <a:t>Out of scope (current phase)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9599" y="3258000"/>
            <a:ext cx="4932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Changing the AOI machine or its camera images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Other lines, plants or companies’ own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Running the gate on a real line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Root-cause analysis of solder defects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Measurable targets, fixed before the main experiments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3528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44000"/>
            <a:ext cx="324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F6DB5"/>
                </a:solidFill>
                <a:latin typeface="Arial"/>
              </a:rPr>
              <a:t>≤ 1 %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95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4213D"/>
                </a:solidFill>
                <a:latin typeface="Arial"/>
              </a:rPr>
              <a:t>Defective boards released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599" y="3456000"/>
            <a:ext cx="3240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 released defect reaches the customer: the strictest limit. Baseline replay: 2.4–4.6 %.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3599" y="1800000"/>
            <a:ext cx="3528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3599" y="1944000"/>
            <a:ext cx="324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F6DB5"/>
                </a:solidFill>
                <a:latin typeface="Arial"/>
              </a:rPr>
              <a:t>≥ 25 %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3599" y="295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4213D"/>
                </a:solidFill>
                <a:latin typeface="Arial"/>
              </a:rPr>
              <a:t>False-call boards released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3599" y="3456000"/>
            <a:ext cx="3240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Each one is a manual inspection saved. Baseline (time order): 8.2 %.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599" y="1800000"/>
            <a:ext cx="3528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73599" y="1944000"/>
            <a:ext cx="324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400" b="1">
                <a:solidFill>
                  <a:srgbClr val="2F6DB5"/>
                </a:solidFill>
                <a:latin typeface="Arial"/>
              </a:rPr>
              <a:t>Alarm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3599" y="295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4213D"/>
                </a:solidFill>
                <a:latin typeface="Arial"/>
              </a:rPr>
              <a:t>Drift detected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3599" y="3456000"/>
            <a:ext cx="3240000" cy="17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gate warns when the line has changed and its decisions may no longer hold.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KEY FACTORS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decides whether the gate helps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00000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False-call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3599" y="1800000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Each false call costs operator time at the manual station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537999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537999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Missed defects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3599" y="2537999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A released defective board reaches the customer: must stay ≤ 1 %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75998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75998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Drift over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3599" y="3275998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Materials, settings and products change; last month’s model may not fit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4013997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4013997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Class imbalance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53599" y="4013997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Only about 1 % of flagged joints are real defects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751996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751996"/>
            <a:ext cx="288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Label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3599" y="4751996"/>
            <a:ext cx="756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Labels come from operators and may contain errors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INPUT → SYSTEM →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Where the gate sits on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2015999"/>
            <a:ext cx="2196000" cy="2088000"/>
          </a:xfrm>
          <a:prstGeom prst="roundRect">
            <a:avLst>
              <a:gd name="adj" fmla="val 6000"/>
            </a:avLst>
          </a:prstGeom>
          <a:solidFill>
            <a:srgbClr val="D5D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2123999"/>
            <a:ext cx="194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4213D"/>
                </a:solidFill>
                <a:latin typeface="Arial"/>
              </a:rPr>
              <a:t>On the line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519998"/>
            <a:ext cx="1944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SMT soldering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AOI camera checks every joint against fixed limits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Flags suspicious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63599" y="2915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7599" y="1710000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7599" y="2015999"/>
            <a:ext cx="2304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1599" y="2123999"/>
            <a:ext cx="208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AOI data per 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1599" y="2519998"/>
            <a:ext cx="208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~70 measurements per joint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Inspection type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Component type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AOI error code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745599" y="2915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69599" y="1710000"/>
            <a:ext cx="26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SYSTEM (OURS)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9599" y="2015999"/>
            <a:ext cx="2664000" cy="2088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 w="1905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3599" y="2123999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 decision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3599" y="2519998"/>
            <a:ext cx="244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Classifier trained on past manual-inspection results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Release threshold: at most 1 % of defective boards released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1598" y="1710000"/>
            <a:ext cx="23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OUTPUT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7599" y="2357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8787599" y="3473999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11598" y="2015999"/>
            <a:ext cx="2610001" cy="972000"/>
          </a:xfrm>
          <a:prstGeom prst="roundRect">
            <a:avLst>
              <a:gd name="adj" fmla="val 6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5598" y="2087999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D6B3A"/>
                </a:solidFill>
                <a:latin typeface="Arial"/>
              </a:rPr>
              <a:t>Release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5598" y="2429998"/>
            <a:ext cx="226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likely false call → next step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11598" y="3131999"/>
            <a:ext cx="2610001" cy="97200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55598" y="3203999"/>
            <a:ext cx="22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Manual inspection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5598" y="3545999"/>
            <a:ext cx="226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possible defect → operator checks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599" y="4392000"/>
            <a:ext cx="536400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599" y="4500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555F6D"/>
                </a:solidFill>
                <a:latin typeface="Arial"/>
              </a:rPr>
              <a:t>Today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599" y="4788000"/>
            <a:ext cx="504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Every flagged board is checked by hand, and 98 % of them are fine.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7599" y="4392000"/>
            <a:ext cx="5364000" cy="10440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599" y="4500000"/>
            <a:ext cx="50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B8C4D6"/>
                </a:solidFill>
                <a:latin typeface="Arial"/>
              </a:rPr>
              <a:t>With the gate (goal)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599" y="4788000"/>
            <a:ext cx="504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Fewer manual checks, same quality: at most 1 % of defective boards released.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CRISP-DM, evaluated by a replay simulation of the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1 · Business understanding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false-call problem, KPIs, limits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49598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57598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2 · Data understanding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7598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structure, imbalance,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7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3597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3 · Data preparation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597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joints → boards, strict time order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1596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596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4 · Modelling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9596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gradient-boosted trees; neural network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7595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5595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5 · Evaluation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5595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replay simulation, production KPIs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93594" y="1800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1594" y="1872000"/>
            <a:ext cx="154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F6DB5"/>
                </a:solidFill>
                <a:latin typeface="Arial"/>
              </a:rPr>
              <a:t>6 ·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1594" y="2412000"/>
            <a:ext cx="154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replay demo, run instructions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599" y="3384000"/>
            <a:ext cx="10908000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599" y="350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Replay simulation (our “baseline simulation”)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599" y="3834000"/>
            <a:ext cx="10548000" cy="147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132 recorded days are played back in time order. Each day the gate decides every flagged board with a model trained only on earlier days, exactly as on the real line.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We compare update policies (train once, retrain weekly on all past days, retrain on recent days) and measure released false calls, released defects and saved inspections.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Why not a random split? It mixes future and past and overstates what a factory gets (next slides).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Real production data published by Siemens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599" y="176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Pfab, Eichler, Mallandur, Rothering (2024), Siemens AG, Data in Brief 53, 110110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30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30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3599" y="230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SMT production line of Siemens AG in Bavaria, 132 days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284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284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3599" y="284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440,274 flagged solder joints on 39,742 boards; 5 inspection types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38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38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3599" y="338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~70 AOI measurements + component type, error code, angle (anonymised, scaled 0–1)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392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392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Label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3599" y="392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Manual inspection result: false call or true defect (875 defective boards)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599" y="446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3599" y="446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Drift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3599" y="446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Early vs. late days separable from measurements alone: AUROC 0.966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599" y="5004000"/>
            <a:ext cx="10908000" cy="46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599" y="5004000"/>
            <a:ext cx="180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Licence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3599" y="5004000"/>
            <a:ext cx="8640000" cy="46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CC BY-NC 3.0 (Siemens AG): downloaded by script, not redistributed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Open source, runs on a normal computer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331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2988000"/>
                <a:gridCol w="5940000"/>
              </a:tblGrid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Process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Tool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pandas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Load the Siemens data, group joints into boards, keep time order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Models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scikit-learn, PyTorch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Gradient-boosted trees (baseline) and a neural network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Simulation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(own replay code)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Play the line back day by day; measure KPIs per policy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Drift alarm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statistics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Detect when the line has changed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Quality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pytest, GitHub Actions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Tests run automatically on every change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Demo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Gradio or Streamlit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Replay the line and show decisions and saved inspections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sharing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github.com/bodhi584/aoi-decision-gate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540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55F6D"/>
                </a:solidFill>
                <a:latin typeface="Arial"/>
              </a:rPr>
              <a:t>Within the lecture topics: neural networks (p. 12, 17), big data processing (p. 10). No large language model. Tools may change as the project progresses.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BASELINE ALREADY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Time order is much harder than a random split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11</a:t>
            </a:r>
          </a:p>
        </p:txBody>
      </p:sp>
      <p:pic>
        <p:nvPicPr>
          <p:cNvPr id="7" name="Picture 6" descr="chart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5297143" cy="370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01599" y="1800000"/>
            <a:ext cx="5220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81599" y="1925999"/>
            <a:ext cx="48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1599" y="2250000"/>
            <a:ext cx="4860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Gradient-boosted trees, trained on the first 70 % of records.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Share of false-call boards that could be released while 99 % of defective boards still go to manual inspection.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Random split: 29 %, AUROC 0.966. Time order: 8.2 %, AUROC 0.889.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line changes over time: drift is the real challenge, and papers with random splits overstate results.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FIRST REPLAY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Thresholds from past days do not hold on later days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12</a:t>
            </a:r>
          </a:p>
        </p:txBody>
      </p:sp>
      <p:pic>
        <p:nvPicPr>
          <p:cNvPr id="7" name="Picture 6" descr="chart_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6180000" cy="370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93599" y="1800000"/>
            <a:ext cx="4428000" cy="3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73599" y="1925999"/>
            <a:ext cx="40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3599" y="2250000"/>
            <a:ext cx="4068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39 production days, 17,366 flagged boards replayed.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Up to 16 % of false-call boards released (2,750 manual inspections saved).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But 2.4–4.6 % of defective boards released: the 1 % limit is broken by drift.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→ Core of the project: drift detection and update policy.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Four steps to get there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 · Understand the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Siemens AOI data: boards, labels, imbalance, drift over time (done).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 · Baseline gate and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Trees + threshold, replayed day by day in time order (first version running).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3 · Improve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Neural network, drift alarm, update policies, threshold per inspection type.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4 · Evaluate and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Production KPIs, error analysis, replay demo and video.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Who does what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Yu Han · team 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Decision gate and replay simulation (core code), GitHub and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Melisa Subasi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Data understanding, evaluation and KPIs, final report editor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Meron Hagos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Literature review, industrial case (Siemens), demo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Alejandro Rivas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Experiments: models, drift handling and update policies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proposal to final hand-in (lecture p. 33)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7999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/>
                <a:gridCol w="4031999"/>
                <a:gridCol w="5580000"/>
              </a:tblGrid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What we deliver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20 / 23 Oct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P1 · Proposal + tech stack + MVP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Revised topic, proposal, GitHub, baseline and first replay running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3 Nov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P2 · Core code + baseline sim; test plan +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Decision gate and replay as core code, all update policies, test plan, literature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24 Nov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P3 · Feature progress; unit/CI; issues board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Neural network, drift alarm, tests on every push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8 Dec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P4 · Feature progress; unit/CI; issues board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Full evaluation and error analysis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22 Dec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P5 · Demo video + run instructions; packaging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Replay demo, video, run instructions, package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213D"/>
                          </a:solidFill>
                          <a:latin typeface="Arial"/>
                        </a:rPr>
                        <a:t>12 Jan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Final presentation,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</a:rPr>
                        <a:t>Final presentation and report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GANTT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Project schedule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16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599" y="1620000"/>
            <a:ext cx="9360000" cy="358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EXPECTED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will hand in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 decision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Working, tested code that decides release or manual inspection per board.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800000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925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Replay simulation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50000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Day-by-day replay of the Siemens line with production KPIs per update policy.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Trees vs. neural network, and update policies, measured against our targets.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5999"/>
            <a:ext cx="5364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8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Report and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5999"/>
            <a:ext cx="5004000" cy="111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Final report, replay demo video and a public GitHub repository.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BILL OF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needs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519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000"/>
                <a:gridCol w="6228000"/>
                <a:gridCol w="1980000"/>
              </a:tblGrid>
              <a:tr h="503999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Specification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Siemens AOI data set, Mendeley (CC BY-NC 3.0)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Computer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Normal laptop or Google Colab CPU (no graphics card needed)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Python and open-source libraries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Code hosting and tests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GitHub, GitHub Actions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SPECIFIC CONDITIONS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covers, and what it does not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256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Conditions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4896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Siemens SMT line, five inspection types, 132 days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Gate placed after the AOI, before manual inspection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Decisions per board; at most 1 % defective boards released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Public data only, no personal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9599" y="1800000"/>
            <a:ext cx="5292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9599" y="1925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9599" y="2250000"/>
            <a:ext cx="4932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Measurements anonymised: no physical names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from operators may contain errors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No images; no other lines or plants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Licence non-commercial (course use only)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Results hold for this line; other lines need their own data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RISKS, ETHICS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Keeping it safe and realistic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5256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925999"/>
            <a:ext cx="48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Ethics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50000"/>
            <a:ext cx="4896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Public data only, no personal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data used under its licence (non-commercial, course use); not redistributed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All sources cited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9599" y="1800000"/>
            <a:ext cx="5292000" cy="35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9599" y="1925999"/>
            <a:ext cx="49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Main risks and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9599" y="2250000"/>
            <a:ext cx="4932000" cy="29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Drift limits how many false calls can be released safely → fallback: report which drift handling works, which does not, and why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may contain operator errors → error analysis checks suspicious cases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Sources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AOI Decision Gate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84000"/>
            <a:ext cx="1090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Pfab, K., Eichler, R., Mallandur, A., Rothering, M. (2024). Data of automated optical inspection of surface-mounted technology electronic production. Data in Brief 53, 110110.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Siemens (21 Oct 2026). Siemens and NVIDIA advance AI-powered PCB inspection from digital twin to factory. Press release.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technology.org (20 Oct 2026). Siemens aims to raise factory automation to 80 % with AI.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Albayari, J., Patra, P., Patel, D., Santos, D. (2025). Enhancing false call detection in automated optical inspection using XGBoost classifier and XAI algorithms. FAIM 2025, Springer.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Schmitt, J., Bönig, J., Borggräfe, T., Beitinger, G., Deuse, J. (2020). Predictive model-based quality inspection using machine learning and edge cloud computing. Advanced Engineering Informatics 45, 101101.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Chapman, P. et al. (2000). CRISP-DM 1.0: Step-by-step data mining guide. SPSS.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Lecture slides, Case Study Intelligent Systems in Production, p. 10, 12, 17, 18, 33.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2340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3420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B8C4D6"/>
                </a:solidFill>
                <a:latin typeface="Arial"/>
              </a:rPr>
              <a:t>github.com/bodhi584/aoi-decision-gate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1 · Yu Han · Melisa Subasi · Meron Hagos · Alejandro Rivas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