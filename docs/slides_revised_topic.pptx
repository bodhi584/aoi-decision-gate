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599" y="792000"/>
            <a:ext cx="64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B8C4D6"/>
                </a:solidFill>
                <a:latin typeface="Arial"/>
              </a:rPr>
              <a:t>CASE STUDY: INTELLIGENT SYSTEMS IN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0" y="792000"/>
            <a:ext cx="45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B8C4D6"/>
                </a:solidFill>
                <a:latin typeface="Arial"/>
              </a:rPr>
              <a:t>REVISED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599" y="1944000"/>
            <a:ext cx="10908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AI-powered Quality Control and Defect Detection in Electronics Assembly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599" y="3744000"/>
            <a:ext cx="10908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0">
                <a:solidFill>
                  <a:srgbClr val="B8C4D6"/>
                </a:solidFill>
                <a:latin typeface="Arial"/>
              </a:rPr>
              <a:t>Reducing false calls of automated optical inspection (AOI) with Siemens production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599" y="5112000"/>
            <a:ext cx="1090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Yu Han · Melisa Subasi · Meron Hagos · Alejandro Rivas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599" y="5940000"/>
            <a:ext cx="1090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B8C4D6"/>
                </a:solidFill>
                <a:latin typeface="Arial"/>
              </a:rPr>
              <a:t>Team 1 · Guided by Dr. Hamidreza Heidari · 23 October 2026 · github.com/bodhi584/aoi-decision-gate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D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599" y="576000"/>
            <a:ext cx="109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2F6DB5"/>
                </a:solidFill>
                <a:latin typeface="Arial"/>
              </a:rPr>
              <a:t>WHERE THE TOPIC COMES FROM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599" y="792000"/>
            <a:ext cx="10908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14213D"/>
                </a:solidFill>
                <a:latin typeface="Arial"/>
              </a:rPr>
              <a:t>Based on the lecture example: Siemens, p. 18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599" y="5742000"/>
            <a:ext cx="1904395" cy="413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599" y="6228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555F6D"/>
                </a:solidFill>
                <a:latin typeface="Arial"/>
              </a:rPr>
              <a:t>AI-powered Quality Control and Defect Detection · Team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2000" y="6228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55F6D"/>
                </a:solidFill>
                <a:latin typeface="Arial"/>
              </a:rPr>
              <a:t>2</a:t>
            </a:r>
          </a:p>
        </p:txBody>
      </p:sp>
      <p:pic>
        <p:nvPicPr>
          <p:cNvPr id="7" name="Picture 6" descr="p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599" y="1800000"/>
            <a:ext cx="4798588" cy="370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76000" y="1800000"/>
            <a:ext cx="2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555F6D"/>
                </a:solidFill>
                <a:latin typeface="Arial"/>
              </a:rPr>
              <a:t>Lecture slide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12000" y="1800000"/>
            <a:ext cx="2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2F6DB5"/>
                </a:solidFill>
                <a:latin typeface="Arial"/>
              </a:rPr>
              <a:t>Our project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76000" y="2124000"/>
            <a:ext cx="2592000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48000" y="2124000"/>
            <a:ext cx="2484000" cy="4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555F6D"/>
                </a:solidFill>
                <a:latin typeface="Arial"/>
              </a:rPr>
              <a:t>AI-powered quality control and defect detection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12000" y="2124000"/>
            <a:ext cx="2736000" cy="486000"/>
          </a:xfrm>
          <a:prstGeom prst="roundRect">
            <a:avLst>
              <a:gd name="adj" fmla="val 6000"/>
            </a:avLst>
          </a:prstGeom>
          <a:solidFill>
            <a:srgbClr val="DC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84000" y="2124000"/>
            <a:ext cx="2628000" cy="4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AI decides: real defect or false call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76000" y="2682000"/>
            <a:ext cx="2592000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48000" y="2682000"/>
            <a:ext cx="2484000" cy="4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555F6D"/>
                </a:solidFill>
                <a:latin typeface="Arial"/>
              </a:rPr>
              <a:t>Application in manufacturing processes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12000" y="2682000"/>
            <a:ext cx="2736000" cy="486000"/>
          </a:xfrm>
          <a:prstGeom prst="roundRect">
            <a:avLst>
              <a:gd name="adj" fmla="val 6000"/>
            </a:avLst>
          </a:prstGeom>
          <a:solidFill>
            <a:srgbClr val="DC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84000" y="2682000"/>
            <a:ext cx="2628000" cy="4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SMT electronics assembly, after soldering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76000" y="3240000"/>
            <a:ext cx="2592000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48000" y="3240000"/>
            <a:ext cx="2484000" cy="4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555F6D"/>
                </a:solidFill>
                <a:latin typeface="Arial"/>
              </a:rPr>
              <a:t>AI-powered computer vision systems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12000" y="3240000"/>
            <a:ext cx="2736000" cy="486000"/>
          </a:xfrm>
          <a:prstGeom prst="roundRect">
            <a:avLst>
              <a:gd name="adj" fmla="val 6000"/>
            </a:avLst>
          </a:prstGeom>
          <a:solidFill>
            <a:srgbClr val="DC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84000" y="3240000"/>
            <a:ext cx="2628000" cy="4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Works on the AOI camera system’s measurements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76000" y="3798000"/>
            <a:ext cx="2592000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48000" y="3798000"/>
            <a:ext cx="2484000" cy="4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555F6D"/>
                </a:solidFill>
                <a:latin typeface="Arial"/>
              </a:rPr>
              <a:t>Advanced image recognition algorithms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12000" y="3798000"/>
            <a:ext cx="2736000" cy="486000"/>
          </a:xfrm>
          <a:prstGeom prst="roundRect">
            <a:avLst>
              <a:gd name="adj" fmla="val 6000"/>
            </a:avLst>
          </a:prstGeom>
          <a:solidFill>
            <a:srgbClr val="DC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84000" y="3798000"/>
            <a:ext cx="2628000" cy="4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Classifier on AOI image measurements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76000" y="4356000"/>
            <a:ext cx="2592000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48000" y="4356000"/>
            <a:ext cx="2484000" cy="4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555F6D"/>
                </a:solidFill>
                <a:latin typeface="Arial"/>
              </a:rPr>
              <a:t>Automated inspection of electronic components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12000" y="4356000"/>
            <a:ext cx="2736000" cy="486000"/>
          </a:xfrm>
          <a:prstGeom prst="roundRect">
            <a:avLst>
              <a:gd name="adj" fmla="val 6000"/>
            </a:avLst>
          </a:prstGeom>
          <a:solidFill>
            <a:srgbClr val="DC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84000" y="4356000"/>
            <a:ext cx="2628000" cy="4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Real Siemens line data (Bavaria)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76000" y="4914000"/>
            <a:ext cx="2592000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48000" y="4914000"/>
            <a:ext cx="2484000" cy="4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555F6D"/>
                </a:solidFill>
                <a:latin typeface="Arial"/>
              </a:rPr>
              <a:t>Improved quality, reduced waste, efficiency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12000" y="4914000"/>
            <a:ext cx="2736000" cy="486000"/>
          </a:xfrm>
          <a:prstGeom prst="roundRect">
            <a:avLst>
              <a:gd name="adj" fmla="val 6000"/>
            </a:avLst>
          </a:prstGeom>
          <a:solidFill>
            <a:srgbClr val="DC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84000" y="4914000"/>
            <a:ext cx="2628000" cy="4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Fewer manual checks, no extra defects released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D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599" y="576000"/>
            <a:ext cx="109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2F6DB5"/>
                </a:solidFill>
                <a:latin typeface="Arial"/>
              </a:rPr>
              <a:t>INTRODUCTION AND KEY MOTIVATIONS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599" y="792000"/>
            <a:ext cx="10908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14213D"/>
                </a:solidFill>
                <a:latin typeface="Arial"/>
              </a:rPr>
              <a:t>Automated inspection in electronics assembly: too many false alarms, today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599" y="5742000"/>
            <a:ext cx="1904395" cy="413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599" y="6228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555F6D"/>
                </a:solidFill>
                <a:latin typeface="Arial"/>
              </a:rPr>
              <a:t>AI-powered Quality Control and Defect Detection · Team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2000" y="6228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55F6D"/>
                </a:solidFill>
                <a:latin typeface="Arial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599" y="1800000"/>
            <a:ext cx="3384000" cy="360000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9599" y="2015999"/>
            <a:ext cx="3024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6600" b="1">
                <a:solidFill>
                  <a:srgbClr val="FFFFFF"/>
                </a:solidFill>
                <a:latin typeface="Arial"/>
              </a:rPr>
              <a:t>98 %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9599" y="3240000"/>
            <a:ext cx="3024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of the boards flagged by the AOI machine are fine (false calls) in the Siemens line data.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Every one goes to a manual inspection station: “a major manual labour effort” (Pfab et al. 2024, Siemens).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5598" y="1800000"/>
            <a:ext cx="7236000" cy="1655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5598" y="1925999"/>
            <a:ext cx="68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F6DB5"/>
                </a:solidFill>
                <a:latin typeface="Arial"/>
              </a:rPr>
              <a:t>21 Oct 2026 · Siemens and NVIDIA, Erlangen electronics factory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5598" y="2250000"/>
            <a:ext cx="6876000" cy="111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AI second check of AOI results: is it a real defect or a false call?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Project targets: about 40 % fewer false calls, reduced manual verification.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5598" y="3671999"/>
            <a:ext cx="7236000" cy="172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5598" y="3797998"/>
            <a:ext cx="68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F6DB5"/>
                </a:solidFill>
                <a:latin typeface="Arial"/>
              </a:rPr>
              <a:t>19 Oct 2026 · Siemens, Erlangen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5598" y="4121999"/>
            <a:ext cx="6876000" cy="11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Factories in high-wage countries need 7–9 % more productivity every year.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Siemens invests €500 million in Erlangen as a showcase for AI in manufacturing.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599" y="5508000"/>
            <a:ext cx="1090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555F6D"/>
                </a:solidFill>
                <a:latin typeface="Arial"/>
              </a:rPr>
              <a:t>Sources: Siemens press release, 21 Oct 2026; technology.org, 20 Oct 2026; Pfab et al. 2024, Data in Brief 53:110110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D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599" y="576000"/>
            <a:ext cx="109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2F6DB5"/>
                </a:solidFill>
                <a:latin typeface="Arial"/>
              </a:rPr>
              <a:t>PROJECT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599" y="792000"/>
            <a:ext cx="10908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14213D"/>
                </a:solidFill>
                <a:latin typeface="Arial"/>
              </a:rPr>
              <a:t>What we will and will not do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599" y="5742000"/>
            <a:ext cx="1904395" cy="413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599" y="6228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555F6D"/>
                </a:solidFill>
                <a:latin typeface="Arial"/>
              </a:rPr>
              <a:t>AI-powered Quality Control and Defect Detection · Team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2000" y="6228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55F6D"/>
                </a:solidFill>
                <a:latin typeface="Arial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599" y="1764000"/>
            <a:ext cx="10908000" cy="936000"/>
          </a:xfrm>
          <a:prstGeom prst="roundRect">
            <a:avLst>
              <a:gd name="adj" fmla="val 6000"/>
            </a:avLst>
          </a:prstGeom>
          <a:solidFill>
            <a:srgbClr val="DC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3599" y="1889999"/>
            <a:ext cx="1054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F6DB5"/>
                </a:solidFill>
                <a:latin typeface="Arial"/>
              </a:rPr>
              <a:t>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3599" y="2214000"/>
            <a:ext cx="1054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This project aims to explore how an AI-powered decision gate can be integrated after automated optical inspection to release false calls on a real Siemens line, while at most 1 % of defective boards are released.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599" y="2808000"/>
            <a:ext cx="5256000" cy="262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3599" y="2933999"/>
            <a:ext cx="489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F6DB5"/>
                </a:solidFill>
                <a:latin typeface="Arial"/>
              </a:rPr>
              <a:t>Includes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3599" y="3258000"/>
            <a:ext cx="4896000" cy="20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Data preprocessing: Siemens AOI data, 132 days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Training gradient-boosted trees and a neural network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Integration with a simulation of the line (day by day)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Decision logic: release or manual inspection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Model performance evaluation using standard metrics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29599" y="2808000"/>
            <a:ext cx="5292000" cy="262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9599" y="2933999"/>
            <a:ext cx="49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555F6D"/>
                </a:solidFill>
                <a:latin typeface="Arial"/>
              </a:rPr>
              <a:t>Out of scope (current phase)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9599" y="3258000"/>
            <a:ext cx="4932000" cy="20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Real hardware deployment on a line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Integration with physical AOI machines or MES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Changing the AOI machine or its camera images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Other lines or plants; root causes of defects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D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599" y="576000"/>
            <a:ext cx="109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2F6DB5"/>
                </a:solidFill>
                <a:latin typeface="Arial"/>
              </a:rPr>
              <a:t>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599" y="792000"/>
            <a:ext cx="10908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14213D"/>
                </a:solidFill>
                <a:latin typeface="Arial"/>
              </a:rPr>
              <a:t>Measurable targets, fixed before the main experiments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599" y="5742000"/>
            <a:ext cx="1904395" cy="413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599" y="6228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555F6D"/>
                </a:solidFill>
                <a:latin typeface="Arial"/>
              </a:rPr>
              <a:t>AI-powered Quality Control and Defect Detection · Team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2000" y="6228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55F6D"/>
                </a:solidFill>
                <a:latin typeface="Arial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599" y="1800000"/>
            <a:ext cx="3528000" cy="352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3599" y="1944000"/>
            <a:ext cx="324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4400" b="1">
                <a:solidFill>
                  <a:srgbClr val="2F6DB5"/>
                </a:solidFill>
                <a:latin typeface="Arial"/>
              </a:rPr>
              <a:t>≤ 1 %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3599" y="2951999"/>
            <a:ext cx="3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4213D"/>
                </a:solidFill>
                <a:latin typeface="Arial"/>
              </a:rPr>
              <a:t>Defective boards released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3599" y="3456000"/>
            <a:ext cx="3240000" cy="17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A released defect reaches the customer: the strictest limit. Baseline replay: 2.4–4.6 %.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03599" y="1800000"/>
            <a:ext cx="3528000" cy="352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3599" y="1944000"/>
            <a:ext cx="324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4400" b="1">
                <a:solidFill>
                  <a:srgbClr val="2F6DB5"/>
                </a:solidFill>
                <a:latin typeface="Arial"/>
              </a:rPr>
              <a:t>≥ 25 %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3599" y="2951999"/>
            <a:ext cx="3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4213D"/>
                </a:solidFill>
                <a:latin typeface="Arial"/>
              </a:rPr>
              <a:t>False-call boards released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3599" y="3456000"/>
            <a:ext cx="3240000" cy="17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Each one is a manual inspection saved. Baseline (time order): 8.2 %.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93599" y="1800000"/>
            <a:ext cx="3528000" cy="352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73599" y="1944000"/>
            <a:ext cx="324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4400" b="1">
                <a:solidFill>
                  <a:srgbClr val="2F6DB5"/>
                </a:solidFill>
                <a:latin typeface="Arial"/>
              </a:rPr>
              <a:t>Alarm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3599" y="2951999"/>
            <a:ext cx="3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4213D"/>
                </a:solidFill>
                <a:latin typeface="Arial"/>
              </a:rPr>
              <a:t>Drift detected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3599" y="3456000"/>
            <a:ext cx="3240000" cy="17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The gate warns when the line has changed and its decisions may no longer hold.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D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599" y="576000"/>
            <a:ext cx="109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2F6DB5"/>
                </a:solidFill>
                <a:latin typeface="Arial"/>
              </a:rP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599" y="792000"/>
            <a:ext cx="10908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14213D"/>
                </a:solidFill>
                <a:latin typeface="Arial"/>
              </a:rPr>
              <a:t>What the project will achieve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599" y="5742000"/>
            <a:ext cx="1904395" cy="413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599" y="6228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555F6D"/>
                </a:solidFill>
                <a:latin typeface="Arial"/>
              </a:rPr>
              <a:t>AI-powered Quality Control and Defect Detection · Team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2000" y="6228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55F6D"/>
                </a:solidFill>
                <a:latin typeface="Arial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599" y="1764000"/>
            <a:ext cx="10908000" cy="6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3599" y="1764000"/>
            <a:ext cx="540000" cy="63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2F6DB5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5599" y="1764000"/>
            <a:ext cx="9900000" cy="63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4213D"/>
                </a:solidFill>
                <a:latin typeface="Arial"/>
              </a:rPr>
              <a:t>Train gradient-boosted trees and a neural network to decide per flagged board: real defect or false call.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599" y="2484000"/>
            <a:ext cx="10908000" cy="6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3599" y="2484000"/>
            <a:ext cx="540000" cy="63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2F6DB5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5599" y="2484000"/>
            <a:ext cx="9900000" cy="63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4213D"/>
                </a:solidFill>
                <a:latin typeface="Arial"/>
              </a:rPr>
              <a:t>Integrate the trained models into a day-by-day simulation of the Siemens 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599" y="3204000"/>
            <a:ext cx="10908000" cy="6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3599" y="3204000"/>
            <a:ext cx="540000" cy="63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2F6DB5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5599" y="3204000"/>
            <a:ext cx="9900000" cy="63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4213D"/>
                </a:solidFill>
                <a:latin typeface="Arial"/>
              </a:rPr>
              <a:t>Compare performance to identify the most efficient model and update policy for future deployment.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599" y="3924000"/>
            <a:ext cx="10908000" cy="6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3599" y="3924000"/>
            <a:ext cx="540000" cy="63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2F6DB5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5599" y="3924000"/>
            <a:ext cx="9900000" cy="63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4213D"/>
                </a:solidFill>
                <a:latin typeface="Arial"/>
              </a:rPr>
              <a:t>Add a drift alarm that warns when the line has changed.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599" y="4644000"/>
            <a:ext cx="10908000" cy="6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3599" y="4644000"/>
            <a:ext cx="540000" cy="63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2F6DB5"/>
                </a:solidFill>
                <a:latin typeface="Arial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5599" y="4644000"/>
            <a:ext cx="9900000" cy="63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4213D"/>
                </a:solidFill>
                <a:latin typeface="Arial"/>
              </a:rPr>
              <a:t>Evaluate models based on precision, recall, defective boards released and manual inspections saved.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D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599" y="576000"/>
            <a:ext cx="109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2F6DB5"/>
                </a:solidFill>
                <a:latin typeface="Arial"/>
              </a:rPr>
              <a:t>KEY FACTORS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599" y="792000"/>
            <a:ext cx="10908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14213D"/>
                </a:solidFill>
                <a:latin typeface="Arial"/>
              </a:rPr>
              <a:t>What decides whether the gate helps the line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599" y="5742000"/>
            <a:ext cx="1904395" cy="413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599" y="6228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555F6D"/>
                </a:solidFill>
                <a:latin typeface="Arial"/>
              </a:rPr>
              <a:t>AI-powered Quality Control and Defect Detection · Team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2000" y="6228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55F6D"/>
                </a:solidFill>
                <a:latin typeface="Arial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599" y="1800000"/>
            <a:ext cx="10908000" cy="6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3599" y="1800000"/>
            <a:ext cx="2880000" cy="63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F6DB5"/>
                </a:solidFill>
                <a:latin typeface="Arial"/>
              </a:rPr>
              <a:t>False-call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53599" y="1800000"/>
            <a:ext cx="7560000" cy="63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Each false call costs operator time at the manual station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599" y="2537999"/>
            <a:ext cx="10908000" cy="6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3599" y="2537999"/>
            <a:ext cx="2880000" cy="63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F6DB5"/>
                </a:solidFill>
                <a:latin typeface="Arial"/>
              </a:rPr>
              <a:t>Missed defects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53599" y="2537999"/>
            <a:ext cx="7560000" cy="63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A released defective board reaches the customer: must stay ≤ 1 %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599" y="3275998"/>
            <a:ext cx="10908000" cy="6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3599" y="3275998"/>
            <a:ext cx="2880000" cy="63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F6DB5"/>
                </a:solidFill>
                <a:latin typeface="Arial"/>
              </a:rPr>
              <a:t>Drift over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53599" y="3275998"/>
            <a:ext cx="7560000" cy="63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Materials, settings and products change; last month’s model may not fit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599" y="4013997"/>
            <a:ext cx="10908000" cy="6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3599" y="4013997"/>
            <a:ext cx="2880000" cy="63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F6DB5"/>
                </a:solidFill>
                <a:latin typeface="Arial"/>
              </a:rPr>
              <a:t>Class imbalance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53599" y="4013997"/>
            <a:ext cx="7560000" cy="63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Only about 1 % of flagged joints are real defects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599" y="4751996"/>
            <a:ext cx="10908000" cy="6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3599" y="4751996"/>
            <a:ext cx="2880000" cy="63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F6DB5"/>
                </a:solidFill>
                <a:latin typeface="Arial"/>
              </a:rPr>
              <a:t>Label quality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53599" y="4751996"/>
            <a:ext cx="7560000" cy="63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Labels come from operators and may contain errors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D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599" y="576000"/>
            <a:ext cx="109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2F6DB5"/>
                </a:solidFill>
                <a:latin typeface="Arial"/>
              </a:rPr>
              <a:t>INPUT → SYSTEM →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599" y="792000"/>
            <a:ext cx="10908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14213D"/>
                </a:solidFill>
                <a:latin typeface="Arial"/>
              </a:rPr>
              <a:t>Where the gate sits on the line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599" y="5742000"/>
            <a:ext cx="1904395" cy="413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599" y="6228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555F6D"/>
                </a:solidFill>
                <a:latin typeface="Arial"/>
              </a:rPr>
              <a:t>AI-powered Quality Control and Defect Detection · Team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2000" y="6228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55F6D"/>
                </a:solidFill>
                <a:latin typeface="Arial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599" y="2015999"/>
            <a:ext cx="2196000" cy="2088000"/>
          </a:xfrm>
          <a:prstGeom prst="roundRect">
            <a:avLst>
              <a:gd name="adj" fmla="val 6000"/>
            </a:avLst>
          </a:prstGeom>
          <a:solidFill>
            <a:srgbClr val="D5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7599" y="2123999"/>
            <a:ext cx="194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4213D"/>
                </a:solidFill>
                <a:latin typeface="Arial"/>
              </a:rPr>
              <a:t>On the line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7599" y="2519998"/>
            <a:ext cx="1944000" cy="15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SMT soldering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AOI camera checks every joint against fixed limits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Flags suspicious boards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63599" y="2915999"/>
            <a:ext cx="270000" cy="288000"/>
          </a:xfrm>
          <a:prstGeom prst="rightArrow">
            <a:avLst/>
          </a:prstGeom>
          <a:solidFill>
            <a:srgbClr val="2F6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7599" y="1710000"/>
            <a:ext cx="23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2F6DB5"/>
                </a:solidFill>
                <a:latin typeface="Arial"/>
              </a:rPr>
              <a:t>INPUT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7599" y="2015999"/>
            <a:ext cx="2304000" cy="20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31599" y="2123999"/>
            <a:ext cx="208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F6DB5"/>
                </a:solidFill>
                <a:latin typeface="Arial"/>
              </a:rPr>
              <a:t>AOI data per 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1599" y="2519998"/>
            <a:ext cx="2088000" cy="15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~70 measurements per joint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Inspection type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Component type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AOI error code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745599" y="2915999"/>
            <a:ext cx="270000" cy="288000"/>
          </a:xfrm>
          <a:prstGeom prst="rightArrow">
            <a:avLst/>
          </a:prstGeom>
          <a:solidFill>
            <a:srgbClr val="2F6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69599" y="1710000"/>
            <a:ext cx="266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2F6DB5"/>
                </a:solidFill>
                <a:latin typeface="Arial"/>
              </a:rPr>
              <a:t>SYSTEM (OURS)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69599" y="2015999"/>
            <a:ext cx="2664000" cy="2088000"/>
          </a:xfrm>
          <a:prstGeom prst="roundRect">
            <a:avLst>
              <a:gd name="adj" fmla="val 6000"/>
            </a:avLst>
          </a:prstGeom>
          <a:solidFill>
            <a:srgbClr val="DCE7F5"/>
          </a:solidFill>
          <a:ln w="19050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3599" y="2123999"/>
            <a:ext cx="244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F6DB5"/>
                </a:solidFill>
                <a:latin typeface="Arial"/>
              </a:rPr>
              <a:t>AI decision 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3599" y="2519998"/>
            <a:ext cx="2448000" cy="15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Classifier trained on past manual-inspection results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Release threshold: at most 1 % of defective boards released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11598" y="1710000"/>
            <a:ext cx="2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2F6DB5"/>
                </a:solidFill>
                <a:latin typeface="Arial"/>
              </a:rPr>
              <a:t>OUTPUT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787599" y="2357999"/>
            <a:ext cx="270000" cy="288000"/>
          </a:xfrm>
          <a:prstGeom prst="rightArrow">
            <a:avLst/>
          </a:prstGeom>
          <a:solidFill>
            <a:srgbClr val="2F6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8787599" y="3473999"/>
            <a:ext cx="270000" cy="288000"/>
          </a:xfrm>
          <a:prstGeom prst="rightArrow">
            <a:avLst/>
          </a:prstGeom>
          <a:solidFill>
            <a:srgbClr val="2F6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11598" y="2015999"/>
            <a:ext cx="2610001" cy="972000"/>
          </a:xfrm>
          <a:prstGeom prst="roundRect">
            <a:avLst>
              <a:gd name="adj" fmla="val 6000"/>
            </a:avLst>
          </a:prstGeom>
          <a:solidFill>
            <a:srgbClr val="E3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55598" y="2087999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D6B3A"/>
                </a:solidFill>
                <a:latin typeface="Arial"/>
              </a:rPr>
              <a:t>Release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5598" y="2429998"/>
            <a:ext cx="226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4213D"/>
                </a:solidFill>
                <a:latin typeface="Arial"/>
              </a:rPr>
              <a:t>likely false call → next step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11598" y="3131999"/>
            <a:ext cx="2610001" cy="972000"/>
          </a:xfrm>
          <a:prstGeom prst="roundRect">
            <a:avLst>
              <a:gd name="adj" fmla="val 6000"/>
            </a:avLst>
          </a:prstGeom>
          <a:solidFill>
            <a:srgbClr val="FB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55598" y="3203999"/>
            <a:ext cx="226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A12A2A"/>
                </a:solidFill>
                <a:latin typeface="Arial"/>
              </a:rPr>
              <a:t>Manual inspection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5598" y="3545999"/>
            <a:ext cx="226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4213D"/>
                </a:solidFill>
                <a:latin typeface="Arial"/>
              </a:rPr>
              <a:t>possible defect → operator checks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599" y="4392000"/>
            <a:ext cx="5364000" cy="10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3599" y="4500000"/>
            <a:ext cx="50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555F6D"/>
                </a:solidFill>
                <a:latin typeface="Arial"/>
              </a:rPr>
              <a:t>Today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3599" y="4788000"/>
            <a:ext cx="504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Every flagged board is checked by hand, and 98 % of them are fine.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7599" y="4392000"/>
            <a:ext cx="5364000" cy="104400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599" y="4500000"/>
            <a:ext cx="50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B8C4D6"/>
                </a:solidFill>
                <a:latin typeface="Arial"/>
              </a:rPr>
              <a:t>With the gate (goal)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599" y="4788000"/>
            <a:ext cx="504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Fewer manual checks, same quality: at most 1 % of defective boards released.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D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599" y="576000"/>
            <a:ext cx="109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2F6DB5"/>
                </a:solidFill>
                <a:latin typeface="Arial"/>
              </a:rPr>
              <a:t>PROJECT FLOW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599" y="792000"/>
            <a:ext cx="10908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14213D"/>
                </a:solidFill>
                <a:latin typeface="Arial"/>
              </a:rPr>
              <a:t>From the Siemens data to production KPIs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599" y="5742000"/>
            <a:ext cx="1904395" cy="413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599" y="6228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555F6D"/>
                </a:solidFill>
                <a:latin typeface="Arial"/>
              </a:rPr>
              <a:t>AI-powered Quality Control and Defect Detection · Team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2000" y="6228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55F6D"/>
                </a:solidFill>
                <a:latin typeface="Arial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599" y="1872000"/>
            <a:ext cx="2376000" cy="12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1599" y="2016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2F6DB5"/>
                </a:solidFill>
                <a:latin typeface="Arial"/>
              </a:rPr>
              <a:t>Siemens AOI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1599" y="2448000"/>
            <a:ext cx="21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4213D"/>
                </a:solidFill>
                <a:latin typeface="Arial"/>
              </a:rPr>
              <a:t>132 days, 39,742 boards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43599" y="2340000"/>
            <a:ext cx="306000" cy="288000"/>
          </a:xfrm>
          <a:prstGeom prst="rightArrow">
            <a:avLst/>
          </a:prstGeom>
          <a:solidFill>
            <a:srgbClr val="2F6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03599" y="1872000"/>
            <a:ext cx="2376000" cy="12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1599" y="2016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2F6DB5"/>
                </a:solidFill>
                <a:latin typeface="Arial"/>
              </a:rPr>
              <a:t>Data preparation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1599" y="2448000"/>
            <a:ext cx="21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4213D"/>
                </a:solidFill>
                <a:latin typeface="Arial"/>
              </a:rPr>
              <a:t>joints → boards, strict time order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33599" y="2340000"/>
            <a:ext cx="306000" cy="288000"/>
          </a:xfrm>
          <a:prstGeom prst="rightArrow">
            <a:avLst/>
          </a:prstGeom>
          <a:solidFill>
            <a:srgbClr val="2F6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93599" y="1872000"/>
            <a:ext cx="2376000" cy="1224000"/>
          </a:xfrm>
          <a:prstGeom prst="roundRect">
            <a:avLst>
              <a:gd name="adj" fmla="val 6000"/>
            </a:avLst>
          </a:prstGeom>
          <a:solidFill>
            <a:srgbClr val="DC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1599" y="2016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2F6DB5"/>
                </a:solidFill>
                <a:latin typeface="Arial"/>
              </a:rPr>
              <a:t>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599" y="2448000"/>
            <a:ext cx="21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4213D"/>
                </a:solidFill>
                <a:latin typeface="Arial"/>
              </a:rPr>
              <a:t>trees · neural network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823599" y="2340000"/>
            <a:ext cx="306000" cy="288000"/>
          </a:xfrm>
          <a:prstGeom prst="rightArrow">
            <a:avLst/>
          </a:prstGeom>
          <a:solidFill>
            <a:srgbClr val="2F6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83599" y="1872000"/>
            <a:ext cx="2376000" cy="1224000"/>
          </a:xfrm>
          <a:prstGeom prst="roundRect">
            <a:avLst>
              <a:gd name="adj" fmla="val 6000"/>
            </a:avLst>
          </a:prstGeom>
          <a:solidFill>
            <a:srgbClr val="DC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1599" y="2016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2F6DB5"/>
                </a:solidFill>
                <a:latin typeface="Arial"/>
              </a:rPr>
              <a:t>Release threshold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1599" y="2448000"/>
            <a:ext cx="21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4213D"/>
                </a:solidFill>
                <a:latin typeface="Arial"/>
              </a:rPr>
              <a:t>≤ 1 % defective released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3599" y="3672000"/>
            <a:ext cx="2376000" cy="1224000"/>
          </a:xfrm>
          <a:prstGeom prst="roundRect">
            <a:avLst>
              <a:gd name="adj" fmla="val 6000"/>
            </a:avLst>
          </a:prstGeom>
          <a:solidFill>
            <a:srgbClr val="DC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1599" y="3816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2F6DB5"/>
                </a:solidFill>
                <a:latin typeface="Arial"/>
              </a:rPr>
              <a:t>Replay simulation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1599" y="4248000"/>
            <a:ext cx="21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4213D"/>
                </a:solidFill>
                <a:latin typeface="Arial"/>
              </a:rPr>
              <a:t>day by day, update policies</a:t>
            </a:r>
          </a:p>
        </p:txBody>
      </p:sp>
      <p:sp>
        <p:nvSpPr>
          <p:cNvPr id="25" name="Left Arrow 24"/>
          <p:cNvSpPr/>
          <p:nvPr/>
        </p:nvSpPr>
        <p:spPr>
          <a:xfrm>
            <a:off x="8823599" y="4140000"/>
            <a:ext cx="306000" cy="288000"/>
          </a:xfrm>
          <a:prstGeom prst="leftArrow">
            <a:avLst/>
          </a:prstGeom>
          <a:solidFill>
            <a:srgbClr val="2F6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93599" y="3672000"/>
            <a:ext cx="2376000" cy="1224000"/>
          </a:xfrm>
          <a:prstGeom prst="roundRect">
            <a:avLst>
              <a:gd name="adj" fmla="val 6000"/>
            </a:avLst>
          </a:prstGeom>
          <a:solidFill>
            <a:srgbClr val="DC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01599" y="3816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2F6DB5"/>
                </a:solidFill>
                <a:latin typeface="Arial"/>
              </a:rPr>
              <a:t>Drift alarm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1599" y="4248000"/>
            <a:ext cx="21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4213D"/>
                </a:solidFill>
                <a:latin typeface="Arial"/>
              </a:rPr>
              <a:t>line changed? warn</a:t>
            </a:r>
          </a:p>
        </p:txBody>
      </p:sp>
      <p:sp>
        <p:nvSpPr>
          <p:cNvPr id="29" name="Left Arrow 28"/>
          <p:cNvSpPr/>
          <p:nvPr/>
        </p:nvSpPr>
        <p:spPr>
          <a:xfrm>
            <a:off x="6033599" y="4140000"/>
            <a:ext cx="306000" cy="288000"/>
          </a:xfrm>
          <a:prstGeom prst="leftArrow">
            <a:avLst/>
          </a:prstGeom>
          <a:solidFill>
            <a:srgbClr val="2F6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603599" y="3672000"/>
            <a:ext cx="2376000" cy="12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11599" y="3816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2F6DB5"/>
                </a:solidFill>
                <a:latin typeface="Arial"/>
              </a:rPr>
              <a:t>Evaluation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11599" y="4248000"/>
            <a:ext cx="21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4213D"/>
                </a:solidFill>
                <a:latin typeface="Arial"/>
              </a:rPr>
              <a:t>KPIs, error analysis</a:t>
            </a:r>
          </a:p>
        </p:txBody>
      </p:sp>
      <p:sp>
        <p:nvSpPr>
          <p:cNvPr id="33" name="Left Arrow 32"/>
          <p:cNvSpPr/>
          <p:nvPr/>
        </p:nvSpPr>
        <p:spPr>
          <a:xfrm>
            <a:off x="3243599" y="4140000"/>
            <a:ext cx="306000" cy="288000"/>
          </a:xfrm>
          <a:prstGeom prst="leftArrow">
            <a:avLst/>
          </a:prstGeom>
          <a:solidFill>
            <a:srgbClr val="2F6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13599" y="3672000"/>
            <a:ext cx="2376000" cy="12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1599" y="3816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2F6DB5"/>
                </a:solidFill>
                <a:latin typeface="Arial"/>
              </a:rPr>
              <a:t>Demo and report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1599" y="4248000"/>
            <a:ext cx="21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4213D"/>
                </a:solidFill>
                <a:latin typeface="Arial"/>
              </a:rPr>
              <a:t>replay demo, video, report</a:t>
            </a:r>
          </a:p>
        </p:txBody>
      </p:sp>
      <p:sp>
        <p:nvSpPr>
          <p:cNvPr id="37" name="Down Arrow 36"/>
          <p:cNvSpPr/>
          <p:nvPr/>
        </p:nvSpPr>
        <p:spPr>
          <a:xfrm>
            <a:off x="10227599" y="3131999"/>
            <a:ext cx="288000" cy="468000"/>
          </a:xfrm>
          <a:prstGeom prst="downArrow">
            <a:avLst/>
          </a:prstGeom>
          <a:solidFill>
            <a:srgbClr val="2F6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3599" y="5004000"/>
            <a:ext cx="1090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555F6D"/>
                </a:solidFill>
                <a:latin typeface="Arial"/>
              </a:rPr>
              <a:t>Blue boxes: the system we build. White boxes: data and project steps.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D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599" y="576000"/>
            <a:ext cx="109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2F6DB5"/>
                </a:solidFill>
                <a:latin typeface="Arial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599" y="792000"/>
            <a:ext cx="10908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14213D"/>
                </a:solidFill>
                <a:latin typeface="Arial"/>
              </a:rPr>
              <a:t>CRISP-DM, evaluated by a replay simulation of the line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599" y="5742000"/>
            <a:ext cx="1904395" cy="413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599" y="6228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555F6D"/>
                </a:solidFill>
                <a:latin typeface="Arial"/>
              </a:rPr>
              <a:t>AI-powered Quality Control and Defect Detection · Team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2000" y="6228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55F6D"/>
                </a:solidFill>
                <a:latin typeface="Arial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599" y="1800000"/>
            <a:ext cx="1728000" cy="129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1599" y="1872000"/>
            <a:ext cx="154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2F6DB5"/>
                </a:solidFill>
                <a:latin typeface="Arial"/>
              </a:rPr>
              <a:t>1 · Business understanding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1599" y="2412000"/>
            <a:ext cx="154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false-call problem, KPIs, limits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49598" y="1800000"/>
            <a:ext cx="1728000" cy="129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57598" y="1872000"/>
            <a:ext cx="154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2F6DB5"/>
                </a:solidFill>
                <a:latin typeface="Arial"/>
              </a:rPr>
              <a:t>2 · Data understanding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57598" y="2412000"/>
            <a:ext cx="154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structure, imbalance, drift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5597" y="1800000"/>
            <a:ext cx="1728000" cy="129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3597" y="1872000"/>
            <a:ext cx="154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2F6DB5"/>
                </a:solidFill>
                <a:latin typeface="Arial"/>
              </a:rPr>
              <a:t>3 · Data preparation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3597" y="2412000"/>
            <a:ext cx="154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joints → boards, strict time order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21596" y="1800000"/>
            <a:ext cx="1728000" cy="1296000"/>
          </a:xfrm>
          <a:prstGeom prst="roundRect">
            <a:avLst>
              <a:gd name="adj" fmla="val 6000"/>
            </a:avLst>
          </a:prstGeom>
          <a:solidFill>
            <a:srgbClr val="DC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9596" y="1872000"/>
            <a:ext cx="154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2F6DB5"/>
                </a:solidFill>
                <a:latin typeface="Arial"/>
              </a:rPr>
              <a:t>4 · Modelling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9596" y="2412000"/>
            <a:ext cx="154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gradient-boosted trees; neural network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7595" y="1800000"/>
            <a:ext cx="1728000" cy="1296000"/>
          </a:xfrm>
          <a:prstGeom prst="roundRect">
            <a:avLst>
              <a:gd name="adj" fmla="val 6000"/>
            </a:avLst>
          </a:prstGeom>
          <a:solidFill>
            <a:srgbClr val="DC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5595" y="1872000"/>
            <a:ext cx="154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2F6DB5"/>
                </a:solidFill>
                <a:latin typeface="Arial"/>
              </a:rPr>
              <a:t>5 · Evaluation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5595" y="2412000"/>
            <a:ext cx="154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replay simulation, production KPIs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93594" y="1800000"/>
            <a:ext cx="1728000" cy="129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01594" y="1872000"/>
            <a:ext cx="154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2F6DB5"/>
                </a:solidFill>
                <a:latin typeface="Arial"/>
              </a:rPr>
              <a:t>6 · Deployment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01594" y="2412000"/>
            <a:ext cx="154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replay demo, run instructions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599" y="3384000"/>
            <a:ext cx="10908000" cy="2015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3599" y="3509999"/>
            <a:ext cx="1054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F6DB5"/>
                </a:solidFill>
                <a:latin typeface="Arial"/>
              </a:rPr>
              <a:t>Replay simulation (our “baseline simulation”)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3599" y="3834000"/>
            <a:ext cx="10548000" cy="147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The 132 recorded days are played back in time order. Each day the gate decides every flagged board with a model trained only on earlier days, exactly as on the real line.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We compare update policies (train once, retrain weekly on all past days, retrain on recent days) and measure released false calls, released defects and saved inspections.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Why not a random split? It mixes future and past and overstates what a factory gets (next slides).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D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599" y="576000"/>
            <a:ext cx="109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2F6DB5"/>
                </a:solidFill>
                <a:latin typeface="Arial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599" y="792000"/>
            <a:ext cx="10908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14213D"/>
                </a:solidFill>
                <a:latin typeface="Arial"/>
              </a:rPr>
              <a:t>Real production data published by Siemens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599" y="5742000"/>
            <a:ext cx="1904395" cy="413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599" y="6228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555F6D"/>
                </a:solidFill>
                <a:latin typeface="Arial"/>
              </a:rPr>
              <a:t>AI-powered Quality Control and Defect Detection · Team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2000" y="6228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55F6D"/>
                </a:solidFill>
                <a:latin typeface="Arial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599" y="1764000"/>
            <a:ext cx="10908000" cy="46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3599" y="1764000"/>
            <a:ext cx="1800000" cy="46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2F6DB5"/>
                </a:solidFill>
                <a:latin typeface="Arial"/>
              </a:rPr>
              <a:t>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3599" y="1764000"/>
            <a:ext cx="8640000" cy="46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Pfab, Eichler, Mallandur, Rothering (2024), Siemens AG, Data in Brief 53, 110110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599" y="2304000"/>
            <a:ext cx="10908000" cy="46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3599" y="2304000"/>
            <a:ext cx="1800000" cy="46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2F6DB5"/>
                </a:solidFill>
                <a:latin typeface="Arial"/>
              </a:rPr>
              <a:t>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3599" y="2304000"/>
            <a:ext cx="8640000" cy="46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One SMT production line of Siemens AG in Bavaria, 132 days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599" y="2844000"/>
            <a:ext cx="10908000" cy="46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3599" y="2844000"/>
            <a:ext cx="1800000" cy="46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2F6DB5"/>
                </a:solidFill>
                <a:latin typeface="Arial"/>
              </a:rPr>
              <a:t>Size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3599" y="2844000"/>
            <a:ext cx="8640000" cy="46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440,274 flagged solder joints on 39,742 boards; 5 inspection types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599" y="3384000"/>
            <a:ext cx="10908000" cy="46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3599" y="3384000"/>
            <a:ext cx="1800000" cy="46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2F6DB5"/>
                </a:solidFill>
                <a:latin typeface="Arial"/>
              </a:rPr>
              <a:t>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3599" y="3384000"/>
            <a:ext cx="8640000" cy="46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~70 AOI measurements + component type, error code, angle (anonymised, scaled 0–1)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599" y="3924000"/>
            <a:ext cx="10908000" cy="46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3599" y="3924000"/>
            <a:ext cx="1800000" cy="46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2F6DB5"/>
                </a:solidFill>
                <a:latin typeface="Arial"/>
              </a:rPr>
              <a:t>Label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3599" y="3924000"/>
            <a:ext cx="8640000" cy="46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Manual inspection result: false call or true defect (875 defective boards)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599" y="4464000"/>
            <a:ext cx="10908000" cy="46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3599" y="4464000"/>
            <a:ext cx="1800000" cy="46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2F6DB5"/>
                </a:solidFill>
                <a:latin typeface="Arial"/>
              </a:rPr>
              <a:t>Drift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3599" y="4464000"/>
            <a:ext cx="8640000" cy="46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Early vs. late days separable from measurements alone: AUROC 0.966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599" y="5004000"/>
            <a:ext cx="10908000" cy="46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3599" y="5004000"/>
            <a:ext cx="1800000" cy="46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2F6DB5"/>
                </a:solidFill>
                <a:latin typeface="Arial"/>
              </a:rPr>
              <a:t>Licence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73599" y="5004000"/>
            <a:ext cx="8640000" cy="46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CC BY-NC 3.0 (Siemens AG): downloaded by script, not redistributed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D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599" y="576000"/>
            <a:ext cx="109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2F6DB5"/>
                </a:solidFill>
                <a:latin typeface="Arial"/>
              </a:rP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599" y="792000"/>
            <a:ext cx="10908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14213D"/>
                </a:solidFill>
                <a:latin typeface="Arial"/>
              </a:rPr>
              <a:t>Open source, runs on a normal computer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599" y="5742000"/>
            <a:ext cx="1904395" cy="413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599" y="6228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555F6D"/>
                </a:solidFill>
                <a:latin typeface="Arial"/>
              </a:rPr>
              <a:t>AI-powered Quality Control and Defect Detection · Team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2000" y="6228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55F6D"/>
                </a:solidFill>
                <a:latin typeface="Arial"/>
              </a:rPr>
              <a:t>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13599" y="1764000"/>
          <a:ext cx="10908000" cy="3311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2988000"/>
                <a:gridCol w="5940000"/>
              </a:tblGrid>
              <a:tr h="413999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Process</a:t>
                      </a:r>
                    </a:p>
                  </a:txBody>
                  <a:tcPr marL="108000" marR="1080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Tool</a:t>
                      </a:r>
                    </a:p>
                  </a:txBody>
                  <a:tcPr marL="108000" marR="1080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Purpose</a:t>
                      </a:r>
                    </a:p>
                  </a:txBody>
                  <a:tcPr marL="108000" marR="108000">
                    <a:solidFill>
                      <a:srgbClr val="14213D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13D"/>
                          </a:solidFill>
                          <a:latin typeface="Arial"/>
                        </a:rPr>
                        <a:t>Data</a:t>
                      </a:r>
                    </a:p>
                  </a:txBody>
                  <a:tcPr marL="108000" marR="10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Python, pandas</a:t>
                      </a:r>
                    </a:p>
                  </a:txBody>
                  <a:tcPr marL="108000" marR="10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Load the Siemens data, group joints into boards, keep time order</a:t>
                      </a:r>
                    </a:p>
                  </a:txBody>
                  <a:tcPr marL="108000" marR="108000"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13D"/>
                          </a:solidFill>
                          <a:latin typeface="Arial"/>
                        </a:rPr>
                        <a:t>Models</a:t>
                      </a:r>
                    </a:p>
                  </a:txBody>
                  <a:tcPr marL="108000" marR="1080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scikit-learn, PyTorch</a:t>
                      </a:r>
                    </a:p>
                  </a:txBody>
                  <a:tcPr marL="108000" marR="1080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Gradient-boosted trees (baseline) and a neural network</a:t>
                      </a:r>
                    </a:p>
                  </a:txBody>
                  <a:tcPr marL="108000" marR="108000">
                    <a:solidFill>
                      <a:srgbClr val="F2F4F8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13D"/>
                          </a:solidFill>
                          <a:latin typeface="Arial"/>
                        </a:rPr>
                        <a:t>Simulation</a:t>
                      </a:r>
                    </a:p>
                  </a:txBody>
                  <a:tcPr marL="108000" marR="10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Python (own replay code)</a:t>
                      </a:r>
                    </a:p>
                  </a:txBody>
                  <a:tcPr marL="108000" marR="10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Play the line back day by day; measure KPIs per policy</a:t>
                      </a:r>
                    </a:p>
                  </a:txBody>
                  <a:tcPr marL="108000" marR="108000"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13D"/>
                          </a:solidFill>
                          <a:latin typeface="Arial"/>
                        </a:rPr>
                        <a:t>Drift alarm</a:t>
                      </a:r>
                    </a:p>
                  </a:txBody>
                  <a:tcPr marL="108000" marR="1080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Python, statistics</a:t>
                      </a:r>
                    </a:p>
                  </a:txBody>
                  <a:tcPr marL="108000" marR="1080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Detect when the line has changed</a:t>
                      </a:r>
                    </a:p>
                  </a:txBody>
                  <a:tcPr marL="108000" marR="108000">
                    <a:solidFill>
                      <a:srgbClr val="F2F4F8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13D"/>
                          </a:solidFill>
                          <a:latin typeface="Arial"/>
                        </a:rPr>
                        <a:t>Quality</a:t>
                      </a:r>
                    </a:p>
                  </a:txBody>
                  <a:tcPr marL="108000" marR="10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pytest, GitHub Actions</a:t>
                      </a:r>
                    </a:p>
                  </a:txBody>
                  <a:tcPr marL="108000" marR="10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Tests run automatically on every change</a:t>
                      </a:r>
                    </a:p>
                  </a:txBody>
                  <a:tcPr marL="108000" marR="108000"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13D"/>
                          </a:solidFill>
                          <a:latin typeface="Arial"/>
                        </a:rPr>
                        <a:t>Demo</a:t>
                      </a:r>
                    </a:p>
                  </a:txBody>
                  <a:tcPr marL="108000" marR="1080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Gradio or Streamlit</a:t>
                      </a:r>
                    </a:p>
                  </a:txBody>
                  <a:tcPr marL="108000" marR="1080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Replay the line and show decisions and saved inspections</a:t>
                      </a:r>
                    </a:p>
                  </a:txBody>
                  <a:tcPr marL="108000" marR="108000">
                    <a:solidFill>
                      <a:srgbClr val="F2F4F8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13D"/>
                          </a:solidFill>
                          <a:latin typeface="Arial"/>
                        </a:rPr>
                        <a:t>Code sharing</a:t>
                      </a:r>
                    </a:p>
                  </a:txBody>
                  <a:tcPr marL="108000" marR="10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GitHub</a:t>
                      </a:r>
                    </a:p>
                  </a:txBody>
                  <a:tcPr marL="108000" marR="10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github.com/bodhi584/aoi-decision-gate</a:t>
                      </a:r>
                    </a:p>
                  </a:txBody>
                  <a:tcPr marL="108000" marR="10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13599" y="5400000"/>
            <a:ext cx="1090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555F6D"/>
                </a:solidFill>
                <a:latin typeface="Arial"/>
              </a:rPr>
              <a:t>Within the lecture topics: neural networks (p. 12, 17), big data processing (p. 10). No large language model. Tools may change as the project progresses.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D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599" y="576000"/>
            <a:ext cx="109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2F6DB5"/>
                </a:solidFill>
                <a:latin typeface="Arial"/>
              </a:rPr>
              <a:t>MVP · BASELINE ALREADY RUNS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599" y="792000"/>
            <a:ext cx="10908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14213D"/>
                </a:solidFill>
                <a:latin typeface="Arial"/>
              </a:rPr>
              <a:t>Time order is much harder than a random split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599" y="5742000"/>
            <a:ext cx="1904395" cy="413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599" y="6228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555F6D"/>
                </a:solidFill>
                <a:latin typeface="Arial"/>
              </a:rPr>
              <a:t>AI-powered Quality Control and Defect Detection · Team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2000" y="6228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55F6D"/>
                </a:solidFill>
                <a:latin typeface="Arial"/>
              </a:rPr>
              <a:t>13</a:t>
            </a:r>
          </a:p>
        </p:txBody>
      </p:sp>
      <p:pic>
        <p:nvPicPr>
          <p:cNvPr id="7" name="Picture 6" descr="chart_bas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599" y="1728000"/>
            <a:ext cx="5297143" cy="3708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01599" y="1800000"/>
            <a:ext cx="5220000" cy="36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81599" y="1925999"/>
            <a:ext cx="48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F6DB5"/>
                </a:solidFill>
                <a:latin typeface="Arial"/>
              </a:rPr>
              <a:t>What it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81599" y="2250000"/>
            <a:ext cx="4860000" cy="30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Gradient-boosted trees, trained on the first 70 % of records.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Share of false-call boards that could be released while 99 % of defective boards still go to manual inspection.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Random split: 29 %, AUROC 0.966. Time order: 8.2 %, AUROC 0.889.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The line changes over time: drift is the real challenge, and papers with random splits overstate results.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D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599" y="576000"/>
            <a:ext cx="109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2F6DB5"/>
                </a:solidFill>
                <a:latin typeface="Arial"/>
              </a:rPr>
              <a:t>MVP · FIRST REPLAY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599" y="792000"/>
            <a:ext cx="10908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14213D"/>
                </a:solidFill>
                <a:latin typeface="Arial"/>
              </a:rPr>
              <a:t>Thresholds from past days do not hold on later days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599" y="5742000"/>
            <a:ext cx="1904395" cy="413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599" y="6228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555F6D"/>
                </a:solidFill>
                <a:latin typeface="Arial"/>
              </a:rPr>
              <a:t>AI-powered Quality Control and Defect Detection · Team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2000" y="6228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55F6D"/>
                </a:solidFill>
                <a:latin typeface="Arial"/>
              </a:rPr>
              <a:t>14</a:t>
            </a:r>
          </a:p>
        </p:txBody>
      </p:sp>
      <p:pic>
        <p:nvPicPr>
          <p:cNvPr id="7" name="Picture 6" descr="chart_rep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599" y="1728000"/>
            <a:ext cx="6180000" cy="3708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293599" y="1800000"/>
            <a:ext cx="4428000" cy="36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73599" y="1925999"/>
            <a:ext cx="406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F6DB5"/>
                </a:solidFill>
                <a:latin typeface="Arial"/>
              </a:rPr>
              <a:t>What it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73599" y="2250000"/>
            <a:ext cx="4068000" cy="30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39 production days, 17,366 flagged boards replayed.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Up to 16 % of false-call boards released (2,750 manual inspections saved).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But 2.4–4.6 % of defective boards released: the 1 % limit is broken by drift.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→ Core of the project: drift detection and update policy.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D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599" y="576000"/>
            <a:ext cx="109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2F6DB5"/>
                </a:solidFill>
                <a:latin typeface="Arial"/>
              </a:rPr>
              <a:t>WORKING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599" y="792000"/>
            <a:ext cx="10908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14213D"/>
                </a:solidFill>
                <a:latin typeface="Arial"/>
              </a:rPr>
              <a:t>Four steps, each with a result we can show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599" y="5742000"/>
            <a:ext cx="1904395" cy="413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599" y="6228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555F6D"/>
                </a:solidFill>
                <a:latin typeface="Arial"/>
              </a:rPr>
              <a:t>AI-powered Quality Control and Defect Detection · Team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2000" y="6228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55F6D"/>
                </a:solidFill>
                <a:latin typeface="Arial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599" y="1764000"/>
            <a:ext cx="5364000" cy="176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3599" y="1889999"/>
            <a:ext cx="500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F6DB5"/>
                </a:solidFill>
                <a:latin typeface="Arial"/>
              </a:rPr>
              <a:t>Step 1 · Data preparation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3599" y="2214000"/>
            <a:ext cx="5004000" cy="12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4213D"/>
                </a:solidFill>
                <a:latin typeface="Arial"/>
              </a:rPr>
              <a:t>Collected Siemens AOI data: flagged boards, defective &amp; false call (done)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4213D"/>
                </a:solidFill>
                <a:latin typeface="Arial"/>
              </a:rPr>
              <a:t>Grouped solder joints into boards; encoded categories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4213D"/>
                </a:solidFill>
                <a:latin typeface="Arial"/>
              </a:rPr>
              <a:t>Split data strictly by time into train, validate, test sets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7599" y="1764000"/>
            <a:ext cx="5364000" cy="176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599" y="1889999"/>
            <a:ext cx="500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F6DB5"/>
                </a:solidFill>
                <a:latin typeface="Arial"/>
              </a:rPr>
              <a:t>Step 2 · Model development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599" y="2214000"/>
            <a:ext cx="5004000" cy="12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4213D"/>
                </a:solidFill>
                <a:latin typeface="Arial"/>
              </a:rPr>
              <a:t>Trained gradient-boosted trees as baseline (running)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4213D"/>
                </a:solidFill>
                <a:latin typeface="Arial"/>
              </a:rPr>
              <a:t>Neural network in PyTorch; tuned key parameters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4213D"/>
                </a:solidFill>
                <a:latin typeface="Arial"/>
              </a:rPr>
              <a:t>Release threshold: at most 1 % defective boards released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599" y="3636000"/>
            <a:ext cx="5364000" cy="176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3599" y="3761999"/>
            <a:ext cx="500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F6DB5"/>
                </a:solidFill>
                <a:latin typeface="Arial"/>
              </a:rPr>
              <a:t>Step 3 · Simulation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3599" y="4086000"/>
            <a:ext cx="5004000" cy="12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4213D"/>
                </a:solidFill>
                <a:latin typeface="Arial"/>
              </a:rPr>
              <a:t>Simulated the line day by day (models trained on past days only)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4213D"/>
                </a:solidFill>
                <a:latin typeface="Arial"/>
              </a:rPr>
              <a:t>Integrated the models for decision routing; drift alarm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4213D"/>
                </a:solidFill>
                <a:latin typeface="Arial"/>
              </a:rPr>
              <a:t>Boards are virtually routed to release or manual inspection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7599" y="3636000"/>
            <a:ext cx="5364000" cy="176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599" y="3761999"/>
            <a:ext cx="500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F6DB5"/>
                </a:solidFill>
                <a:latin typeface="Arial"/>
              </a:rPr>
              <a:t>Step 4 · Evaluation and comparison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599" y="4086000"/>
            <a:ext cx="5004000" cy="12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4213D"/>
                </a:solidFill>
                <a:latin typeface="Arial"/>
              </a:rPr>
              <a:t>Analyzed precision, recall, defects released, inspections saved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4213D"/>
                </a:solidFill>
                <a:latin typeface="Arial"/>
              </a:rPr>
              <a:t>Compared models and update policies to identify the best-performing one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4213D"/>
                </a:solidFill>
                <a:latin typeface="Arial"/>
              </a:rPr>
              <a:t>Error analysis; replay demo, video and report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D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599" y="576000"/>
            <a:ext cx="109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2F6DB5"/>
                </a:solidFill>
                <a:latin typeface="Arial"/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599" y="792000"/>
            <a:ext cx="10908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14213D"/>
                </a:solidFill>
                <a:latin typeface="Arial"/>
              </a:rPr>
              <a:t>Who does what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599" y="5742000"/>
            <a:ext cx="1904395" cy="413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599" y="6228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555F6D"/>
                </a:solidFill>
                <a:latin typeface="Arial"/>
              </a:rPr>
              <a:t>AI-powered Quality Control and Defect Detection · Team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2000" y="6228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55F6D"/>
                </a:solidFill>
                <a:latin typeface="Arial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599" y="1800000"/>
            <a:ext cx="5364000" cy="1655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3599" y="1925999"/>
            <a:ext cx="500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F6DB5"/>
                </a:solidFill>
                <a:latin typeface="Arial"/>
              </a:rPr>
              <a:t>Yu Han · team lead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3599" y="2250000"/>
            <a:ext cx="5004000" cy="111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Decision gate and replay simulation (core code), GitHub and tests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7599" y="1800000"/>
            <a:ext cx="5364000" cy="1655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599" y="1925999"/>
            <a:ext cx="500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F6DB5"/>
                </a:solidFill>
                <a:latin typeface="Arial"/>
              </a:rPr>
              <a:t>Melisa Subasi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599" y="2250000"/>
            <a:ext cx="5004000" cy="111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Data understanding, evaluation and KPIs, final report editor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599" y="3635999"/>
            <a:ext cx="5364000" cy="1655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3599" y="3761998"/>
            <a:ext cx="500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F6DB5"/>
                </a:solidFill>
                <a:latin typeface="Arial"/>
              </a:rPr>
              <a:t>Meron Hagos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3599" y="4085999"/>
            <a:ext cx="5004000" cy="111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Literature review, industrial case (Siemens), demo interface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7599" y="3635999"/>
            <a:ext cx="5364000" cy="1655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599" y="3761998"/>
            <a:ext cx="500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F6DB5"/>
                </a:solidFill>
                <a:latin typeface="Arial"/>
              </a:rPr>
              <a:t>Alejandro Rivas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599" y="4085999"/>
            <a:ext cx="5004000" cy="111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Experiments: models, drift handling and update policies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D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599" y="576000"/>
            <a:ext cx="109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2F6DB5"/>
                </a:solidFill>
                <a:latin typeface="Arial"/>
              </a:rP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599" y="792000"/>
            <a:ext cx="10908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14213D"/>
                </a:solidFill>
                <a:latin typeface="Arial"/>
              </a:rPr>
              <a:t>From proposal to final hand-in (lecture p. 33)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599" y="5742000"/>
            <a:ext cx="1904395" cy="413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599" y="6228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555F6D"/>
                </a:solidFill>
                <a:latin typeface="Arial"/>
              </a:rPr>
              <a:t>AI-powered Quality Control and Defect Detection · Team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2000" y="6228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55F6D"/>
                </a:solidFill>
                <a:latin typeface="Arial"/>
              </a:rPr>
              <a:t>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13599" y="1764000"/>
          <a:ext cx="10907999" cy="28979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/>
                <a:gridCol w="4031999"/>
                <a:gridCol w="5580000"/>
              </a:tblGrid>
              <a:tr h="41399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 marL="108000" marR="1080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Milestone</a:t>
                      </a:r>
                    </a:p>
                  </a:txBody>
                  <a:tcPr marL="108000" marR="1080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What we deliver</a:t>
                      </a:r>
                    </a:p>
                  </a:txBody>
                  <a:tcPr marL="108000" marR="108000">
                    <a:solidFill>
                      <a:srgbClr val="14213D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latin typeface="Arial"/>
                        </a:rPr>
                        <a:t>20 / 23 Oct</a:t>
                      </a:r>
                    </a:p>
                  </a:txBody>
                  <a:tcPr marL="108000" marR="10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Arial"/>
                        </a:rPr>
                        <a:t>P1 · Proposal + tech stack + MVP</a:t>
                      </a:r>
                    </a:p>
                  </a:txBody>
                  <a:tcPr marL="108000" marR="10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Arial"/>
                        </a:rPr>
                        <a:t>Revised topic, proposal, GitHub, baseline and first replay running</a:t>
                      </a:r>
                    </a:p>
                  </a:txBody>
                  <a:tcPr marL="108000" marR="108000"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latin typeface="Arial"/>
                        </a:rPr>
                        <a:t>3 Nov</a:t>
                      </a:r>
                    </a:p>
                  </a:txBody>
                  <a:tcPr marL="108000" marR="1080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Arial"/>
                        </a:rPr>
                        <a:t>P2 · Core code + baseline sim; test plan + report</a:t>
                      </a:r>
                    </a:p>
                  </a:txBody>
                  <a:tcPr marL="108000" marR="1080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Arial"/>
                        </a:rPr>
                        <a:t>Decision gate and replay as core code, all update policies, test plan, literature report</a:t>
                      </a:r>
                    </a:p>
                  </a:txBody>
                  <a:tcPr marL="108000" marR="108000">
                    <a:solidFill>
                      <a:srgbClr val="F2F4F8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latin typeface="Arial"/>
                        </a:rPr>
                        <a:t>24 Nov</a:t>
                      </a:r>
                    </a:p>
                  </a:txBody>
                  <a:tcPr marL="108000" marR="10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Arial"/>
                        </a:rPr>
                        <a:t>P3 · Feature progress; unit/CI; issues board</a:t>
                      </a:r>
                    </a:p>
                  </a:txBody>
                  <a:tcPr marL="108000" marR="10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Arial"/>
                        </a:rPr>
                        <a:t>Neural network, drift alarm, tests on every push</a:t>
                      </a:r>
                    </a:p>
                  </a:txBody>
                  <a:tcPr marL="108000" marR="108000"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latin typeface="Arial"/>
                        </a:rPr>
                        <a:t>8 Dec</a:t>
                      </a:r>
                    </a:p>
                  </a:txBody>
                  <a:tcPr marL="108000" marR="1080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Arial"/>
                        </a:rPr>
                        <a:t>P4 · Feature progress; unit/CI; issues board</a:t>
                      </a:r>
                    </a:p>
                  </a:txBody>
                  <a:tcPr marL="108000" marR="1080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Arial"/>
                        </a:rPr>
                        <a:t>Full evaluation and error analysis</a:t>
                      </a:r>
                    </a:p>
                  </a:txBody>
                  <a:tcPr marL="108000" marR="108000">
                    <a:solidFill>
                      <a:srgbClr val="F2F4F8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latin typeface="Arial"/>
                        </a:rPr>
                        <a:t>22 Dec</a:t>
                      </a:r>
                    </a:p>
                  </a:txBody>
                  <a:tcPr marL="108000" marR="10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Arial"/>
                        </a:rPr>
                        <a:t>P5 · Demo video + run instructions; packaging</a:t>
                      </a:r>
                    </a:p>
                  </a:txBody>
                  <a:tcPr marL="108000" marR="10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Arial"/>
                        </a:rPr>
                        <a:t>Replay demo, video, run instructions, package</a:t>
                      </a:r>
                    </a:p>
                  </a:txBody>
                  <a:tcPr marL="108000" marR="108000"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latin typeface="Arial"/>
                        </a:rPr>
                        <a:t>12 Jan</a:t>
                      </a:r>
                    </a:p>
                  </a:txBody>
                  <a:tcPr marL="108000" marR="1080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Arial"/>
                        </a:rPr>
                        <a:t>Final presentation, report</a:t>
                      </a:r>
                    </a:p>
                  </a:txBody>
                  <a:tcPr marL="108000" marR="1080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Arial"/>
                        </a:rPr>
                        <a:t>Final presentation and report</a:t>
                      </a:r>
                    </a:p>
                  </a:txBody>
                  <a:tcPr marL="108000" marR="108000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D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599" y="576000"/>
            <a:ext cx="109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2F6DB5"/>
                </a:solidFill>
                <a:latin typeface="Arial"/>
              </a:rPr>
              <a:t>GANTT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599" y="792000"/>
            <a:ext cx="10908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14213D"/>
                </a:solidFill>
                <a:latin typeface="Arial"/>
              </a:rPr>
              <a:t>Project schedule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599" y="5742000"/>
            <a:ext cx="1904395" cy="413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599" y="6228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555F6D"/>
                </a:solidFill>
                <a:latin typeface="Arial"/>
              </a:rPr>
              <a:t>AI-powered Quality Control and Defect Detection · Team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2000" y="6228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55F6D"/>
                </a:solidFill>
                <a:latin typeface="Arial"/>
              </a:rPr>
              <a:t>18</a:t>
            </a:r>
          </a:p>
        </p:txBody>
      </p:sp>
      <p:pic>
        <p:nvPicPr>
          <p:cNvPr id="7" name="Picture 6" descr="gant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3599" y="1620000"/>
            <a:ext cx="9360000" cy="358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D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599" y="576000"/>
            <a:ext cx="109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2F6DB5"/>
                </a:solidFill>
                <a:latin typeface="Arial"/>
              </a:rPr>
              <a:t>EXPECTED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599" y="792000"/>
            <a:ext cx="10908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14213D"/>
                </a:solidFill>
                <a:latin typeface="Arial"/>
              </a:rPr>
              <a:t>What we hand in, concretely: a software prototype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599" y="5742000"/>
            <a:ext cx="1904395" cy="413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599" y="6228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555F6D"/>
                </a:solidFill>
                <a:latin typeface="Arial"/>
              </a:rPr>
              <a:t>AI-powered Quality Control and Defect Detection · Team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2000" y="6228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55F6D"/>
                </a:solidFill>
                <a:latin typeface="Arial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599" y="1764000"/>
            <a:ext cx="5256000" cy="1655999"/>
          </a:xfrm>
          <a:prstGeom prst="roundRect">
            <a:avLst>
              <a:gd name="adj" fmla="val 6000"/>
            </a:avLst>
          </a:prstGeom>
          <a:solidFill>
            <a:srgbClr val="DC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3599" y="1889999"/>
            <a:ext cx="489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F6DB5"/>
                </a:solidFill>
                <a:latin typeface="Arial"/>
              </a:rPr>
              <a:t>1 · Successfully trained AI decision gate (software)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3599" y="2214000"/>
            <a:ext cx="4896000" cy="111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4213D"/>
                </a:solidFill>
                <a:latin typeface="Arial"/>
              </a:rPr>
              <a:t>A Python package with a command-line tool. Train it on past inspection records; give it the AOI data of one board; it answers RELEASE or INSPECT, with a score and the main reasons.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599" y="3564000"/>
            <a:ext cx="5256000" cy="1655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3599" y="3689999"/>
            <a:ext cx="489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F6DB5"/>
                </a:solidFill>
                <a:latin typeface="Arial"/>
              </a:rPr>
              <a:t>2 · Functional line simulation with decision routing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3599" y="4014000"/>
            <a:ext cx="4896000" cy="111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4213D"/>
                </a:solidFill>
                <a:latin typeface="Arial"/>
              </a:rPr>
              <a:t>A small web app: pick a day of the Siemens line and see each board’s decision, manual checks saved, defects released and drift alarms.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29599" y="1764000"/>
            <a:ext cx="5292000" cy="2015999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73599" y="1835999"/>
            <a:ext cx="5040000" cy="19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# planned command-line interface (day 87 = real replay result)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$ aoi-gate train   --data history.csv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  model saved, threshold set (≤ 1 % defects released)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$ aoi-gate decide  --board board_10466.csv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  RELEASE   (score below threshold: likely false call)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$ aoi-gate replay  --policy weekly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  day 87: 612 boards, 183 checks saved, 0 defects released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29599" y="3924000"/>
            <a:ext cx="5292000" cy="129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9599" y="4049999"/>
            <a:ext cx="49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F6DB5"/>
                </a:solidFill>
                <a:latin typeface="Arial"/>
              </a:rPr>
              <a:t>3 · Comparative performance metrics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9599" y="4374000"/>
            <a:ext cx="49320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4213D"/>
                </a:solidFill>
                <a:latin typeface="Arial"/>
              </a:rPr>
              <a:t>Trees vs. neural network, update policies; identification of the most efficient model · result files, tests, demo video, report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599" y="5328000"/>
            <a:ext cx="109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555F6D"/>
                </a:solidFill>
                <a:latin typeface="Arial"/>
              </a:rPr>
              <a:t>In a factory it would run between the AOI machine and the manual inspection station. Connecting it to a real line is not part of the course project. The command names are planned; the day-87 numbers come from our first replay (weekly retraining).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D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599" y="576000"/>
            <a:ext cx="109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2F6DB5"/>
                </a:solidFill>
                <a:latin typeface="Arial"/>
              </a:rPr>
              <a:t>BILL OF MATERIALS (BOM)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599" y="792000"/>
            <a:ext cx="10908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14213D"/>
                </a:solidFill>
                <a:latin typeface="Arial"/>
              </a:rPr>
              <a:t>What the project needs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599" y="5742000"/>
            <a:ext cx="1904395" cy="413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599" y="6228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555F6D"/>
                </a:solidFill>
                <a:latin typeface="Arial"/>
              </a:rPr>
              <a:t>AI-powered Quality Control and Defect Detection · Team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2000" y="6228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55F6D"/>
                </a:solidFill>
                <a:latin typeface="Arial"/>
              </a:rPr>
              <a:t>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13599" y="1764000"/>
          <a:ext cx="10908000" cy="2519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000"/>
                <a:gridCol w="5148000"/>
                <a:gridCol w="1800000"/>
                <a:gridCol w="1620000"/>
              </a:tblGrid>
              <a:tr h="503999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 marL="108000" marR="1080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Specification</a:t>
                      </a:r>
                    </a:p>
                  </a:txBody>
                  <a:tcPr marL="108000" marR="1080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Quantity</a:t>
                      </a:r>
                    </a:p>
                  </a:txBody>
                  <a:tcPr marL="108000" marR="1080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Cost</a:t>
                      </a:r>
                    </a:p>
                  </a:txBody>
                  <a:tcPr marL="108000" marR="108000">
                    <a:solidFill>
                      <a:srgbClr val="14213D"/>
                    </a:solidFill>
                  </a:tcPr>
                </a:tc>
              </a:tr>
              <a:tr h="503999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13D"/>
                          </a:solidFill>
                          <a:latin typeface="Arial"/>
                        </a:rPr>
                        <a:t>Data set</a:t>
                      </a:r>
                    </a:p>
                  </a:txBody>
                  <a:tcPr marL="108000" marR="10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Siemens AOI data, Mendeley (CC BY-NC 3.0), 333 MB</a:t>
                      </a:r>
                    </a:p>
                  </a:txBody>
                  <a:tcPr marL="108000" marR="10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08000" marR="10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Free</a:t>
                      </a:r>
                    </a:p>
                  </a:txBody>
                  <a:tcPr marL="108000" marR="108000">
                    <a:solidFill>
                      <a:srgbClr val="FFFFFF"/>
                    </a:solidFill>
                  </a:tcPr>
                </a:tc>
              </a:tr>
              <a:tr h="503999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13D"/>
                          </a:solidFill>
                          <a:latin typeface="Arial"/>
                        </a:rPr>
                        <a:t>Computer</a:t>
                      </a:r>
                    </a:p>
                  </a:txBody>
                  <a:tcPr marL="108000" marR="1080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Normal laptop or Google Colab CPU (no graphics card needed)</a:t>
                      </a:r>
                    </a:p>
                  </a:txBody>
                  <a:tcPr marL="108000" marR="1080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4 (one per member)</a:t>
                      </a:r>
                    </a:p>
                  </a:txBody>
                  <a:tcPr marL="108000" marR="1080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Free</a:t>
                      </a:r>
                    </a:p>
                  </a:txBody>
                  <a:tcPr marL="108000" marR="108000">
                    <a:solidFill>
                      <a:srgbClr val="F2F4F8"/>
                    </a:solidFill>
                  </a:tcPr>
                </a:tc>
              </a:tr>
              <a:tr h="503999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13D"/>
                          </a:solidFill>
                          <a:latin typeface="Arial"/>
                        </a:rPr>
                        <a:t>Software</a:t>
                      </a:r>
                    </a:p>
                  </a:txBody>
                  <a:tcPr marL="108000" marR="10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Python and open-source libraries</a:t>
                      </a:r>
                    </a:p>
                  </a:txBody>
                  <a:tcPr marL="108000" marR="10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108000" marR="10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Free</a:t>
                      </a:r>
                    </a:p>
                  </a:txBody>
                  <a:tcPr marL="108000" marR="108000">
                    <a:solidFill>
                      <a:srgbClr val="FFFFFF"/>
                    </a:solidFill>
                  </a:tcPr>
                </a:tc>
              </a:tr>
              <a:tr h="503999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13D"/>
                          </a:solidFill>
                          <a:latin typeface="Arial"/>
                        </a:rPr>
                        <a:t>Code hosting and tests</a:t>
                      </a:r>
                    </a:p>
                  </a:txBody>
                  <a:tcPr marL="108000" marR="1080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GitHub, GitHub Actions</a:t>
                      </a:r>
                    </a:p>
                  </a:txBody>
                  <a:tcPr marL="108000" marR="1080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1 repository</a:t>
                      </a:r>
                    </a:p>
                  </a:txBody>
                  <a:tcPr marL="108000" marR="1080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Free</a:t>
                      </a:r>
                    </a:p>
                  </a:txBody>
                  <a:tcPr marL="108000" marR="108000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13599" y="4536000"/>
            <a:ext cx="109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2F6DB5"/>
                </a:solidFill>
                <a:latin typeface="Arial"/>
              </a:rPr>
              <a:t>Total cost: 0 €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D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599" y="576000"/>
            <a:ext cx="109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2F6DB5"/>
                </a:solidFill>
                <a:latin typeface="Arial"/>
              </a:rPr>
              <a:t>SPECIFIC CONDITIONS AND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599" y="792000"/>
            <a:ext cx="10908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14213D"/>
                </a:solidFill>
                <a:latin typeface="Arial"/>
              </a:rPr>
              <a:t>What the project covers, and what it does not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599" y="5742000"/>
            <a:ext cx="1904395" cy="413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599" y="6228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555F6D"/>
                </a:solidFill>
                <a:latin typeface="Arial"/>
              </a:rPr>
              <a:t>AI-powered Quality Control and Defect Detection · Team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2000" y="6228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55F6D"/>
                </a:solidFill>
                <a:latin typeface="Arial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599" y="1800000"/>
            <a:ext cx="5256000" cy="352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3599" y="1925999"/>
            <a:ext cx="489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F6DB5"/>
                </a:solidFill>
                <a:latin typeface="Arial"/>
              </a:rPr>
              <a:t>Conditions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3599" y="2250000"/>
            <a:ext cx="4896000" cy="29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One Siemens SMT line, five inspection types, 132 days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Gate placed after the AOI, before manual inspection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Decisions per board; at most 1 % defective boards released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Public data only, no personal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29599" y="1800000"/>
            <a:ext cx="5292000" cy="352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9599" y="1925999"/>
            <a:ext cx="49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A12A2A"/>
                </a:solidFill>
                <a:latin typeface="Arial"/>
              </a:rPr>
              <a:t>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9599" y="2250000"/>
            <a:ext cx="4932000" cy="29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Measurements anonymised: no physical names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Labels from operators may contain errors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No images; no other lines or plants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Licence non-commercial (course use only)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Results hold for this line; other lines need their own data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D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599" y="576000"/>
            <a:ext cx="109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2F6DB5"/>
                </a:solidFill>
                <a:latin typeface="Arial"/>
              </a:rPr>
              <a:t>SAFETY &amp; ETHICAL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599" y="792000"/>
            <a:ext cx="10908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14213D"/>
                </a:solidFill>
                <a:latin typeface="Arial"/>
              </a:rPr>
              <a:t>Keeping it safe and realistic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599" y="5742000"/>
            <a:ext cx="1904395" cy="413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599" y="6228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555F6D"/>
                </a:solidFill>
                <a:latin typeface="Arial"/>
              </a:rPr>
              <a:t>AI-powered Quality Control and Defect Detection · Team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2000" y="6228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55F6D"/>
                </a:solidFill>
                <a:latin typeface="Arial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599" y="1800000"/>
            <a:ext cx="5256000" cy="352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3599" y="1925999"/>
            <a:ext cx="489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F6DB5"/>
                </a:solidFill>
                <a:latin typeface="Arial"/>
              </a:rPr>
              <a:t>Checklist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3599" y="2250000"/>
            <a:ext cx="4896000" cy="29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4213D"/>
                </a:solidFill>
                <a:latin typeface="Arial"/>
              </a:rPr>
              <a:t>✓ Simulation-only environment; no physical machinery risk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4213D"/>
                </a:solidFill>
                <a:latin typeface="Arial"/>
              </a:rPr>
              <a:t>✓ Dataset is anonymized by Siemens (no personal data)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4213D"/>
                </a:solidFill>
                <a:latin typeface="Arial"/>
              </a:rPr>
              <a:t>✓ Data used under its licence (non-commercial), not redistributed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4213D"/>
                </a:solidFill>
                <a:latin typeface="Arial"/>
              </a:rPr>
              <a:t>✓ Ethical AI principles followed: transparency, fairness, accountability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4213D"/>
                </a:solidFill>
                <a:latin typeface="Arial"/>
              </a:rPr>
              <a:t>✓ Avoid dataset bias (strict time split) and ensure reproducibility of results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4213D"/>
                </a:solidFill>
                <a:latin typeface="Arial"/>
              </a:rPr>
              <a:t>✓ Safety first in the design: limit on released defects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29599" y="1800000"/>
            <a:ext cx="5292000" cy="352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9599" y="1925999"/>
            <a:ext cx="49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A12A2A"/>
                </a:solidFill>
                <a:latin typeface="Arial"/>
              </a:rPr>
              <a:t>Main risks and fallback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9599" y="2250000"/>
            <a:ext cx="4932000" cy="29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4213D"/>
                </a:solidFill>
                <a:latin typeface="Arial"/>
              </a:rPr>
              <a:t>Drift limits how many false calls can be released safely → fallback: report which drift handling works, which does not, and why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4213D"/>
                </a:solidFill>
                <a:latin typeface="Arial"/>
              </a:rPr>
              <a:t>Labels may contain operator errors → error analysis checks suspicious cases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4213D"/>
                </a:solidFill>
                <a:latin typeface="Arial"/>
              </a:rPr>
              <a:t>In a real factory a gate needs approval by quality engineers before it may release boards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D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599" y="576000"/>
            <a:ext cx="109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2F6DB5"/>
                </a:solidFill>
                <a:latin typeface="Arial"/>
              </a:rP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599" y="792000"/>
            <a:ext cx="10908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14213D"/>
                </a:solidFill>
                <a:latin typeface="Arial"/>
              </a:rPr>
              <a:t>From the public data set to a real line, with an industry partner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599" y="5742000"/>
            <a:ext cx="1904395" cy="413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599" y="6228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555F6D"/>
                </a:solidFill>
                <a:latin typeface="Arial"/>
              </a:rPr>
              <a:t>AI-powered Quality Control and Defect Detection · Team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2000" y="6228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55F6D"/>
                </a:solidFill>
                <a:latin typeface="Arial"/>
              </a:rP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599" y="1800000"/>
            <a:ext cx="2484000" cy="266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7599" y="1908000"/>
            <a:ext cx="2232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F6DB5"/>
                </a:solidFill>
                <a:latin typeface="Arial"/>
              </a:rPr>
              <a:t>1 · Industry partner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7599" y="2448000"/>
            <a:ext cx="2232000" cy="19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4213D"/>
                </a:solidFill>
                <a:latin typeface="Arial"/>
              </a:rPr>
              <a:t>An electronics plant (e.g. in Bavaria) shares AOI and manual-inspection records under a data agreement.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315599" y="2988000"/>
            <a:ext cx="270000" cy="288000"/>
          </a:xfrm>
          <a:prstGeom prst="rightArrow">
            <a:avLst/>
          </a:prstGeom>
          <a:solidFill>
            <a:srgbClr val="2F6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03599" y="1800000"/>
            <a:ext cx="2484000" cy="2664000"/>
          </a:xfrm>
          <a:prstGeom prst="roundRect">
            <a:avLst>
              <a:gd name="adj" fmla="val 6000"/>
            </a:avLst>
          </a:prstGeom>
          <a:solidFill>
            <a:srgbClr val="DC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7599" y="1908000"/>
            <a:ext cx="2232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F6DB5"/>
                </a:solidFill>
                <a:latin typeface="Arial"/>
              </a:rPr>
              <a:t>2 · AOI interface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7599" y="2448000"/>
            <a:ext cx="2232000" cy="19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4213D"/>
                </a:solidFill>
                <a:latin typeface="Arial"/>
              </a:rPr>
              <a:t>Read each board’s AOI result from the machine or MES (e.g. IPC-CFX standard or vendor export); send the decision to the repair station.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105599" y="2988000"/>
            <a:ext cx="270000" cy="288000"/>
          </a:xfrm>
          <a:prstGeom prst="rightArrow">
            <a:avLst/>
          </a:prstGeom>
          <a:solidFill>
            <a:srgbClr val="2F6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93599" y="1800000"/>
            <a:ext cx="2484000" cy="2664000"/>
          </a:xfrm>
          <a:prstGeom prst="roundRect">
            <a:avLst>
              <a:gd name="adj" fmla="val 6000"/>
            </a:avLst>
          </a:prstGeom>
          <a:solidFill>
            <a:srgbClr val="DC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599" y="1908000"/>
            <a:ext cx="2232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F6DB5"/>
                </a:solidFill>
                <a:latin typeface="Arial"/>
              </a:rPr>
              <a:t>3 · Shadow mode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599" y="2448000"/>
            <a:ext cx="2232000" cy="19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4213D"/>
                </a:solidFill>
                <a:latin typeface="Arial"/>
              </a:rPr>
              <a:t>The gate runs next to the operators on real data and only logs its decisions; nothing is released yet.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895599" y="2988000"/>
            <a:ext cx="270000" cy="288000"/>
          </a:xfrm>
          <a:prstGeom prst="rightArrow">
            <a:avLst/>
          </a:prstGeom>
          <a:solidFill>
            <a:srgbClr val="2F6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83599" y="1800000"/>
            <a:ext cx="2484000" cy="266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7599" y="1908000"/>
            <a:ext cx="2232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F6DB5"/>
                </a:solidFill>
                <a:latin typeface="Arial"/>
              </a:rPr>
              <a:t>4 · Approval, go-live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7599" y="2448000"/>
            <a:ext cx="2232000" cy="19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4213D"/>
                </a:solidFill>
                <a:latin typeface="Arial"/>
              </a:rPr>
              <a:t>Quality engineers compare the logs; if ≤ 1 % defects would have been released, start with one inspection type.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599" y="4644000"/>
            <a:ext cx="10908000" cy="79200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3599" y="4644000"/>
            <a:ext cx="10548000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Open questions for this step: interface development per AOI vendor, data access and agreements, and approval by the plant’s quality department.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D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599" y="576000"/>
            <a:ext cx="109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2F6DB5"/>
                </a:solidFill>
                <a:latin typeface="Arial"/>
              </a:rPr>
              <a:t>BIBLIOGRAPHY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599" y="792000"/>
            <a:ext cx="10908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14213D"/>
                </a:solidFill>
                <a:latin typeface="Arial"/>
              </a:rPr>
              <a:t>Sources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599" y="5742000"/>
            <a:ext cx="1904395" cy="413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599" y="6228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555F6D"/>
                </a:solidFill>
                <a:latin typeface="Arial"/>
              </a:rPr>
              <a:t>AI-powered Quality Control and Defect Detection · Team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2000" y="6228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55F6D"/>
                </a:solidFill>
                <a:latin typeface="Arial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599" y="1584000"/>
            <a:ext cx="10908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4213D"/>
                </a:solidFill>
                <a:latin typeface="Arial"/>
              </a:rPr>
              <a:t>Pfab, K., Eichler, R., Mallandur, A., Rothering, M. (2024). Data of automated optical inspection of surface-mounted technology electronic production. Data in Brief 53, 110110.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4213D"/>
                </a:solidFill>
                <a:latin typeface="Arial"/>
              </a:rPr>
              <a:t>Siemens (21 Oct 2026). Siemens and NVIDIA advance AI-powered PCB inspection from digital twin to factory. Press release.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4213D"/>
                </a:solidFill>
                <a:latin typeface="Arial"/>
              </a:rPr>
              <a:t>technology.org (20 Oct 2026). Siemens aims to raise factory automation to 80 % with AI.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4213D"/>
                </a:solidFill>
                <a:latin typeface="Arial"/>
              </a:rPr>
              <a:t>Albayari, J., Patra, P., Patel, D., Santos, D. (2025). Enhancing false call detection in automated optical inspection using XGBoost classifier and XAI algorithms. FAIM 2025, Springer.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4213D"/>
                </a:solidFill>
                <a:latin typeface="Arial"/>
              </a:rPr>
              <a:t>Schmitt, J., Bönig, J., Borggräfe, T., Beitinger, G., Deuse, J. (2020). Predictive model-based quality inspection using machine learning and edge cloud computing. Advanced Engineering Informatics 45, 101101.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4213D"/>
                </a:solidFill>
                <a:latin typeface="Arial"/>
              </a:rPr>
              <a:t>Chapman, P. et al. (2000). CRISP-DM 1.0: Step-by-step data mining guide. SPSS.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4213D"/>
                </a:solidFill>
                <a:latin typeface="Arial"/>
              </a:rPr>
              <a:t>Lecture slides, Case Study Intelligent Systems in Production, p. 10, 12, 17, 18, 33.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599" y="2340000"/>
            <a:ext cx="10908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4800" b="1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599" y="3420000"/>
            <a:ext cx="1090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B8C4D6"/>
                </a:solidFill>
                <a:latin typeface="Arial"/>
              </a:rPr>
              <a:t>github.com/bodhi584/aoi-decision-gate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599" y="5112000"/>
            <a:ext cx="1090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Team 1 · Yu Han · Melisa Subasi · Meron Hagos · Alejandro Rivas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Team 1</dc:creator>
  <cp:keywords/>
  <dc:description>generated using python-pptx</dc:description>
  <cp:lastModifiedBy>Yu Han</cp:lastModifiedBy>
  <cp:revision>1</cp:revision>
  <dcterms:created xsi:type="dcterms:W3CDTF">2013-01-27T09:14:16Z</dcterms:created>
  <dcterms:modified xsi:type="dcterms:W3CDTF">2013-01-27T09:15:58Z</dcterms:modified>
  <cp:category/>
</cp:coreProperties>
</file>