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792000"/>
            <a:ext cx="648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B8C4D6"/>
                </a:solidFill>
                <a:latin typeface="Arial"/>
              </a:rPr>
              <a:t>CASE STUDY: INTELLIGENT SYSTEMS IN PRODUCTION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200000" y="792000"/>
            <a:ext cx="4500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1100" b="0">
                <a:solidFill>
                  <a:srgbClr val="B8C4D6"/>
                </a:solidFill>
                <a:latin typeface="Arial"/>
              </a:rPr>
              <a:t>REVISED TOPIC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599" y="1944000"/>
            <a:ext cx="10908000" cy="14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000" b="1">
                <a:solidFill>
                  <a:srgbClr val="FFFFFF"/>
                </a:solidFill>
                <a:latin typeface="Arial"/>
              </a:rPr>
              <a:t>Second Check of AOI Results with Supervised Machine Learning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599" y="3744000"/>
            <a:ext cx="10908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000" b="0">
                <a:solidFill>
                  <a:srgbClr val="B8C4D6"/>
                </a:solidFill>
                <a:latin typeface="Arial"/>
              </a:rPr>
              <a:t>Quality control and defect detection in electronics assembly: binary classification of AOI alarms into true defects and false calls (Siemens production data)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13599" y="5112000"/>
            <a:ext cx="1090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Yu Han · Melisa Subasi · Meron Hagos · Alejandro Rivas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5940000"/>
            <a:ext cx="10908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B8C4D6"/>
                </a:solidFill>
                <a:latin typeface="Arial"/>
              </a:rPr>
              <a:t>Team 1 · Guided by Dr. Hamidreza Heidari · 23 October 2026 · github.com/bodhi584/aoi-decision-gate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INTRODUCTION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Too many false alarms after automated inspection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3384000" cy="3671999"/>
          </a:xfrm>
          <a:prstGeom prst="roundRect">
            <a:avLst>
              <a:gd name="adj" fmla="val 6000"/>
            </a:avLst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29599" y="1944000"/>
            <a:ext cx="3024000" cy="10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6600" b="1">
                <a:solidFill>
                  <a:srgbClr val="FFFFFF"/>
                </a:solidFill>
                <a:latin typeface="Arial"/>
              </a:rPr>
              <a:t>98 %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9599" y="3168000"/>
            <a:ext cx="3024000" cy="21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of the boards flagged by the AOI machine are fine (false calls) in real Siemens production data.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Every flagged board goes to a manual inspection station.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85598" y="1764000"/>
            <a:ext cx="7236000" cy="140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5598" y="1889999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Based on the lecture example (p. 18)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5598" y="2214000"/>
            <a:ext cx="6876000" cy="86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“Siemens – Quality Control and Defect Detection”. Key motivations: reduce dependence on manual quality checks, keep product quality, increase efficiency.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85598" y="3276000"/>
            <a:ext cx="7236000" cy="108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65598" y="3401999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 current problem: Siemens and NVIDIA, Erlangen, 21 Oct 2026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5598" y="3726000"/>
            <a:ext cx="6876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“AI second check of AOI results”: real defect or false call? Target: about 40 % fewer false calls.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5598" y="4464000"/>
            <a:ext cx="7236000" cy="972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5598" y="4589999"/>
            <a:ext cx="6876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Our goal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5598" y="4914000"/>
            <a:ext cx="6876000" cy="43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>
                <a:solidFill>
                  <a:srgbClr val="14213D"/>
                </a:solidFill>
                <a:latin typeface="Arial"/>
              </a:rPr>
              <a:t>Classify each AOI alarm as true defect or false call: fewer false calls to manual inspection, no extra defects missed.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ONE GOAL: FEWER FALSE CALLS, WITHOUT MISSING DEFECTS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Input → System → Output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1512000"/>
            <a:ext cx="32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F6DB5"/>
                </a:solidFill>
                <a:latin typeface="Arial"/>
              </a:rPr>
              <a:t>INPUT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13599" y="1764000"/>
            <a:ext cx="3456000" cy="18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57599" y="1872000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AOI alarm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7599" y="2267999"/>
            <a:ext cx="3168000" cy="12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flagged board: about 70 measurements per solder joint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component type, AOI error code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323599" y="2556000"/>
            <a:ext cx="288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5598" y="1512000"/>
            <a:ext cx="32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F6DB5"/>
                </a:solidFill>
                <a:latin typeface="Arial"/>
              </a:rPr>
              <a:t>SYSTEM (OURS)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665598" y="1764000"/>
            <a:ext cx="3456000" cy="1872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809598" y="1872000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Binary classification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9598" y="2267999"/>
            <a:ext cx="3168000" cy="12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supervised machine learning, trained on past manual-inspection results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threshold: ≤ 1 % of defects missed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175598" y="2556000"/>
            <a:ext cx="288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17597" y="1512000"/>
            <a:ext cx="324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1">
                <a:solidFill>
                  <a:srgbClr val="2F6DB5"/>
                </a:solidFill>
                <a:latin typeface="Arial"/>
              </a:rPr>
              <a:t>OUTPUT: IS THE AOI ALARM REAL?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517597" y="1764000"/>
            <a:ext cx="3204002" cy="882000"/>
          </a:xfrm>
          <a:prstGeom prst="roundRect">
            <a:avLst>
              <a:gd name="adj" fmla="val 6000"/>
            </a:avLst>
          </a:prstGeom>
          <a:solidFill>
            <a:srgbClr val="E3F2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661597" y="1836000"/>
            <a:ext cx="30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D6B3A"/>
                </a:solidFill>
                <a:latin typeface="Arial"/>
              </a:rPr>
              <a:t>False call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D6B3A"/>
                </a:solidFill>
                <a:latin typeface="Arial"/>
              </a:rPr>
              <a:t>→ skip manual inspection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517597" y="2754000"/>
            <a:ext cx="3204002" cy="882000"/>
          </a:xfrm>
          <a:prstGeom prst="roundRect">
            <a:avLst>
              <a:gd name="adj" fmla="val 6000"/>
            </a:avLst>
          </a:prstGeom>
          <a:solidFill>
            <a:srgbClr val="FBE5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661597" y="2826000"/>
            <a:ext cx="3060000" cy="7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A12A2A"/>
                </a:solidFill>
                <a:latin typeface="Arial"/>
              </a:rPr>
              <a:t>True defect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A12A2A"/>
                </a:solidFill>
                <a:latin typeface="Arial"/>
              </a:rPr>
              <a:t>→ manual inspection, repair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599" y="3780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Key factors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3599" y="4104000"/>
            <a:ext cx="3528000" cy="13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93599" y="4229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False calls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93599" y="4554000"/>
            <a:ext cx="316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each one costs operator time at the manual station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03599" y="4104000"/>
            <a:ext cx="3528000" cy="13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683599" y="4229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Missed defects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83599" y="4554000"/>
            <a:ext cx="316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 missed defective board reaches the customer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93599" y="4104000"/>
            <a:ext cx="3528000" cy="133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73599" y="4229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Changes over time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73599" y="4554000"/>
            <a:ext cx="316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the line changes; a model must keep up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PROJECT SCOPE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we will and will not do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4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936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889999"/>
            <a:ext cx="1054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Aim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14000"/>
            <a:ext cx="10548000" cy="3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This project aims to reduce false calls after automated optical inspection: a binary classifier decides for each AOI alarm whether it is a true defect or a false call, while at most 1 % of defects are missed.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808000"/>
            <a:ext cx="3528000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933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Includes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3599" y="3258000"/>
            <a:ext cx="3168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Data preprocessing: Siemens AOI data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Training three models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Day-by-day simulation of the line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Evaluation using standard metrics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03599" y="2808000"/>
            <a:ext cx="3528000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83599" y="2933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555F6D"/>
                </a:solidFill>
                <a:latin typeface="Arial"/>
              </a:rPr>
              <a:t>Out of scope (current phase)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83599" y="3258000"/>
            <a:ext cx="3168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Real hardware deployment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Integration with physical AOI machines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Changing the AOI camera images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93599" y="2808000"/>
            <a:ext cx="3528000" cy="262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73599" y="2933999"/>
            <a:ext cx="316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A12A2A"/>
                </a:solidFill>
                <a:latin typeface="Arial"/>
              </a:rPr>
              <a:t>Conditions and limitations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73599" y="3258000"/>
            <a:ext cx="3168000" cy="20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One Siemens line, 132 days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Measurements anonymised (no physical names)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Labels from operators may contain errors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Licence: non-commercial (course use)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OBJECTIVES AND REQUIREMENTS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the project will achieve, and how we measure it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5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6696000" cy="5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7599" y="1764000"/>
            <a:ext cx="432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1599" y="1764000"/>
            <a:ext cx="5976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Reduce false calls: train three classifiers to separate false calls from true defects.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394000"/>
            <a:ext cx="6696000" cy="5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57599" y="2394000"/>
            <a:ext cx="432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1599" y="2394000"/>
            <a:ext cx="5976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Keep quality: set the classification threshold so that at most 1 % of defective boards are missed.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024000"/>
            <a:ext cx="6696000" cy="5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57599" y="3024000"/>
            <a:ext cx="432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1599" y="3024000"/>
            <a:ext cx="5976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Test on the line: integrate the models into a day-by-day simulation of the Siemens line.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3654000"/>
            <a:ext cx="6696000" cy="558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7599" y="3654000"/>
            <a:ext cx="432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1599" y="3654000"/>
            <a:ext cx="5976000" cy="558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Compare the three models and identify the most suitable one.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725599" y="1764000"/>
            <a:ext cx="3996000" cy="3671999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05599" y="1872000"/>
            <a:ext cx="37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Requirements (two KPIs)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05599" y="2520000"/>
            <a:ext cx="1512000" cy="86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2F6DB5"/>
                </a:solidFill>
                <a:latin typeface="Arial"/>
              </a:rPr>
              <a:t>≥ 20 %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53599" y="2520000"/>
            <a:ext cx="2196000" cy="86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false calls correctly identified, i.e. manual inspections saved (baseline 6.4 %)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05599" y="3816000"/>
            <a:ext cx="1512000" cy="86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3000" b="1">
                <a:solidFill>
                  <a:srgbClr val="2F6DB5"/>
                </a:solidFill>
                <a:latin typeface="Arial"/>
              </a:rPr>
              <a:t>≤ 1 %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453599" y="3816000"/>
            <a:ext cx="2196000" cy="864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defective boards missed (classified as false call)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TECHNOLOGY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Data science tools from the lecture (p. 22)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13599" y="1764000"/>
          <a:ext cx="10908000" cy="289799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8000"/>
                <a:gridCol w="2700000"/>
                <a:gridCol w="5940000"/>
              </a:tblGrid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Process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Tool / Framework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Purpose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Data preparation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Python, pandas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Load the Siemens AOI data, group joints into boards, keep time order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Model training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scikit-learn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Logistic regression, random forest, neural network (one hidden layer)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Simulation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Day-by-day simulation of the line: release or manual inspection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Evaluation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scikit-learn, pandas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Precision, recall, confusion matrix, missed defects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Visualization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matplotlib, Jupyter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Graphical result representation, step-by-step notebook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41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Code sharing and tests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GitHub, pytest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Repository, tests on every change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PROJECT FLOW CHART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From the Siemens data to the KPIs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Siemens AOI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132 days, 39,742 boards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243599" y="2340000"/>
            <a:ext cx="306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0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1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Data preparation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1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boards, time order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33599" y="2340000"/>
            <a:ext cx="306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9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0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Model training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0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3 models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23599" y="2340000"/>
            <a:ext cx="306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83599" y="18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291599" y="20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Classification threshold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91599" y="24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≤ 1 % defects missed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8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9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Simulation of the line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9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day by day</a:t>
            </a:r>
          </a:p>
        </p:txBody>
      </p:sp>
      <p:sp>
        <p:nvSpPr>
          <p:cNvPr id="25" name="Left Arrow 24"/>
          <p:cNvSpPr/>
          <p:nvPr/>
        </p:nvSpPr>
        <p:spPr>
          <a:xfrm>
            <a:off x="8823599" y="4140000"/>
            <a:ext cx="306000" cy="288000"/>
          </a:xfrm>
          <a:prstGeom prst="lef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39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0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Decision routing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release / manual inspection</a:t>
            </a:r>
          </a:p>
        </p:txBody>
      </p:sp>
      <p:sp>
        <p:nvSpPr>
          <p:cNvPr id="29" name="Left Arrow 28"/>
          <p:cNvSpPr/>
          <p:nvPr/>
        </p:nvSpPr>
        <p:spPr>
          <a:xfrm>
            <a:off x="6033599" y="4140000"/>
            <a:ext cx="306000" cy="288000"/>
          </a:xfrm>
          <a:prstGeom prst="lef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360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1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Evaluation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1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KPIs, comparison</a:t>
            </a:r>
          </a:p>
        </p:txBody>
      </p:sp>
      <p:sp>
        <p:nvSpPr>
          <p:cNvPr id="33" name="Left Arrow 32"/>
          <p:cNvSpPr/>
          <p:nvPr/>
        </p:nvSpPr>
        <p:spPr>
          <a:xfrm>
            <a:off x="3243599" y="4140000"/>
            <a:ext cx="306000" cy="288000"/>
          </a:xfrm>
          <a:prstGeom prst="lef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ounded Rectangle 33"/>
          <p:cNvSpPr/>
          <p:nvPr/>
        </p:nvSpPr>
        <p:spPr>
          <a:xfrm>
            <a:off x="813599" y="3672000"/>
            <a:ext cx="2376000" cy="122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1599" y="3816000"/>
            <a:ext cx="2160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Demo and report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1599" y="4248000"/>
            <a:ext cx="2160000" cy="57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video, report</a:t>
            </a:r>
          </a:p>
        </p:txBody>
      </p:sp>
      <p:sp>
        <p:nvSpPr>
          <p:cNvPr id="37" name="Down Arrow 36"/>
          <p:cNvSpPr/>
          <p:nvPr/>
        </p:nvSpPr>
        <p:spPr>
          <a:xfrm>
            <a:off x="10227599" y="3131999"/>
            <a:ext cx="288000" cy="468000"/>
          </a:xfrm>
          <a:prstGeom prst="down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13599" y="5004000"/>
            <a:ext cx="109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555F6D"/>
                </a:solidFill>
                <a:latin typeface="Arial"/>
              </a:rPr>
              <a:t>Blue boxes: the system we build. White boxes: data and project steps.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WORKING 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CRISP-DM in four steps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889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1 · Data preparation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93599" y="2214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Collected Siemens AOI data: flagged boards, defective &amp; false call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Grouped solder joints into boards; encoded categories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Split data in time order into train, validate, test sets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357599" y="1764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599" y="1889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2 · Model development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37599" y="2214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Trained logistic regression as baseline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Trained random forest and a neural network (one hidden layer)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Set the classification threshold: ≤ 1 % of defects missed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636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761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3 · Simulation integration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3599" y="4086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Simulated the line day by day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Each day decided by a model trained on earlier days only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Boards are virtually routed to release or manual inspection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57599" y="3636000"/>
            <a:ext cx="5364000" cy="17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7599" y="3761999"/>
            <a:ext cx="5004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Step 4 · Evaluation and comparison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599" y="4086000"/>
            <a:ext cx="5004000" cy="12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Analyzed precision, recall, missed defects, inspections saved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Compared the three models to identify the best-performing one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Error analysis; demo video and report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MVP · FIRST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Day-by-day simulation of the line: three models running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9</a:t>
            </a:r>
          </a:p>
        </p:txBody>
      </p:sp>
      <p:pic>
        <p:nvPicPr>
          <p:cNvPr id="7" name="Picture 6" descr="results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3599" y="1728000"/>
            <a:ext cx="7740000" cy="2941200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8733599" y="1764000"/>
            <a:ext cx="2988000" cy="2736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913599" y="1889999"/>
            <a:ext cx="262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What it shows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913599" y="2214000"/>
            <a:ext cx="2628000" cy="219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Today: 6–15 % of false calls correctly identified (manual inspections saved).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But 2.2–3.7 % of defective boards are missed: above the 1 % limit.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14213D"/>
                </a:solidFill>
                <a:latin typeface="Arial"/>
              </a:rPr>
              <a:t>Next: ≥ 20 % identified at ≤ 1 % missed.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BILL OF MATERIALS (BOM)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the project needs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10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13599" y="1764000"/>
          <a:ext cx="10908000" cy="25199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40000"/>
                <a:gridCol w="5148000"/>
                <a:gridCol w="1800000"/>
                <a:gridCol w="1620000"/>
              </a:tblGrid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Component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Specification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Quantity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Arial"/>
                        </a:rPr>
                        <a:t>Cost</a:t>
                      </a:r>
                    </a:p>
                  </a:txBody>
                  <a:tcPr marL="108000" marR="108000">
                    <a:solidFill>
                      <a:srgbClr val="14213D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Data set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Siemens AOI data, Mendeley (CC BY-NC 3.0), 333 MB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Computer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Normal laptop or Google Colab (no graphics card needed)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Software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Python and open-source libraries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FFFFF"/>
                    </a:solidFill>
                  </a:tcPr>
                </a:tc>
              </a:tr>
              <a:tr h="503999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14213D"/>
                          </a:solidFill>
                          <a:latin typeface="Arial"/>
                        </a:rPr>
                        <a:t>Code hosting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GitHub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1 repository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14213D"/>
                          </a:solidFill>
                          <a:latin typeface="Arial"/>
                        </a:rPr>
                        <a:t>Free</a:t>
                      </a:r>
                    </a:p>
                  </a:txBody>
                  <a:tcPr marL="108000" marR="108000">
                    <a:solidFill>
                      <a:srgbClr val="F2F4F8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13599" y="453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2F6DB5"/>
                </a:solidFill>
                <a:latin typeface="Arial"/>
              </a:rPr>
              <a:t>Total cost: 0 €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EXPECTED OUTCOMES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What we hand in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76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5599" y="176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Successfully trained binary classifier for AOI alarms (Python software prototype)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48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48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5599" y="248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Functional day-by-day simulation of the line with decision routing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20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20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5599" y="320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Comparative performance metrics for the three models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392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3599" y="392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5599" y="392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Identification of the most suitable model, with limits and error analysis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599" y="464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3599" y="464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F6DB5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5599" y="464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Demo video, run instructions, report, public GitHub repository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SAFETY &amp; ETHICAL CHECKLIST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Keeping it safe and realistic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76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93599" y="176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5599" y="176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Simulation-only environment; no physical machinery risk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13599" y="248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3599" y="248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5599" y="248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Dataset is anonymized by Siemens (no personal data); used under its licence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13599" y="320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93599" y="320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05599" y="320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Ethical principles followed: transparency, fairness, accountability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599" y="392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93599" y="392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05599" y="392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Avoid dataset bias (time-ordered split) and ensure reproducibility of results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3599" y="4644000"/>
            <a:ext cx="10908000" cy="630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93599" y="4644000"/>
            <a:ext cx="54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2E7D32"/>
                </a:solidFill>
                <a:latin typeface="Arial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5599" y="4644000"/>
            <a:ext cx="9900000" cy="63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400"/>
              </a:spcAft>
            </a:pPr>
            <a:r>
              <a:rPr sz="1500" b="0">
                <a:solidFill>
                  <a:srgbClr val="14213D"/>
                </a:solidFill>
                <a:latin typeface="Arial"/>
              </a:rPr>
              <a:t>Safety first in the design: limit on missed defects (≤ 1 %)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FUTURE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From the public data set to a real line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1 · Industry 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An electronics plant shares AOI and manual-inspection records.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315599" y="2988000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60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74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2 · AOI interface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4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Read each board’s AOI result from the machine; send the decision to the repair station.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105599" y="2988000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39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DCE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3 · Shadow mode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3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The classifier runs next to the operators and only logs its results.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95599" y="2988000"/>
            <a:ext cx="270000" cy="288000"/>
          </a:xfrm>
          <a:prstGeom prst="rightArrow">
            <a:avLst/>
          </a:prstGeom>
          <a:solidFill>
            <a:srgbClr val="2F6D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9183599" y="1800000"/>
            <a:ext cx="2484000" cy="2664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7599" y="1908000"/>
            <a:ext cx="2232000" cy="46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2F6DB5"/>
                </a:solidFill>
                <a:latin typeface="Arial"/>
              </a:rPr>
              <a:t>4 · Approval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7599" y="2448000"/>
            <a:ext cx="2232000" cy="194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Quality engineers compare the logs before any board skips manual inspection.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BIBLIOGRAPHY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Sources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13599" y="1584000"/>
            <a:ext cx="10908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Pfab, K., Eichler, R., Mallandur, A., Rothering, M. (2024). Data of automated optical inspection of surface-mounted technology electronic production. Data in Brief 53, 110110.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Siemens (21 Oct 2026). Siemens and NVIDIA advance AI-powered PCB inspection from digital twin to factory. Press release.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Albayari, J., Patra, P., Patel, D., Santos, D. (2025). Enhancing false call detection in automated optical inspection using XGBoost classifier and XAI algorithms. FAIM 2025, Springer.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Pedregosa, F. et al. (2011). Scikit-learn: Machine learning in Python. Journal of Machine Learning Research 12, 2825–2830.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Chapman, P. et al. (2000). CRISP-DM 1.0: Step-by-step data mining guide. SPSS.</a:t>
            </a:r>
          </a:p>
          <a:p>
            <a:pPr>
              <a:spcAft>
                <a:spcPts val="400"/>
              </a:spcAft>
            </a:pPr>
            <a:r>
              <a:rPr sz="1300" b="0">
                <a:solidFill>
                  <a:srgbClr val="14213D"/>
                </a:solidFill>
                <a:latin typeface="Arial"/>
              </a:rPr>
              <a:t>Lecture slides, Case Study Intelligent Systems in Production, p. 8, 12, 18, 22, 33.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9EDF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576000"/>
            <a:ext cx="10908000" cy="28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100" b="0">
                <a:solidFill>
                  <a:srgbClr val="2F6DB5"/>
                </a:solidFill>
                <a:latin typeface="Arial"/>
              </a:rPr>
              <a:t>MILESTONES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792000"/>
            <a:ext cx="10908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800" b="1">
                <a:solidFill>
                  <a:srgbClr val="14213D"/>
                </a:solidFill>
                <a:latin typeface="Arial"/>
              </a:rPr>
              <a:t>Software &amp; Simulation project, S1–S6 (lecture p. 8, 33)</a:t>
            </a:r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7599" y="5742000"/>
            <a:ext cx="1904395" cy="41399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13599" y="6228000"/>
            <a:ext cx="720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Second Check of AOI Results with Supervised Machine Learning · Team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2000" y="6228000"/>
            <a:ext cx="1080000" cy="251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555F6D"/>
                </a:solidFill>
                <a:latin typeface="Arial"/>
              </a:rPr>
              <a:t>15</a:t>
            </a:r>
          </a:p>
        </p:txBody>
      </p:sp>
      <p:pic>
        <p:nvPicPr>
          <p:cNvPr id="7" name="Picture 6" descr="gant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3599" y="1620000"/>
            <a:ext cx="9000000" cy="345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13599" y="1980000"/>
            <a:ext cx="10908000" cy="3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600" b="0">
                <a:solidFill>
                  <a:srgbClr val="B8C4D6"/>
                </a:solidFill>
                <a:latin typeface="Arial"/>
              </a:rPr>
              <a:t>Repository link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13599" y="2376000"/>
            <a:ext cx="10908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2600" b="1">
                <a:solidFill>
                  <a:srgbClr val="FFFFFF"/>
                </a:solidFill>
                <a:latin typeface="Arial"/>
              </a:rPr>
              <a:t>github.com/bodhi584/aoi-decision-gate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13599" y="3600000"/>
            <a:ext cx="10908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4800" b="1">
                <a:solidFill>
                  <a:srgbClr val="FFFFFF"/>
                </a:solidFill>
                <a:latin typeface="Arial"/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13599" y="5112000"/>
            <a:ext cx="10908000" cy="32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Team 1 · Yu Han · Melisa Subasi · Meron Hagos · Alejandro Rivas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Second Check of AOI Results with Supervised Machine Learning</dc:title>
  <dc:subject/>
  <dc:creator>Team 1</dc:creator>
  <cp:keywords/>
  <dc:description>generated using python-pptx</dc:description>
  <cp:lastModifiedBy>Yu Han</cp:lastModifiedBy>
  <cp:revision>1</cp:revision>
  <dcterms:created xsi:type="dcterms:W3CDTF">2013-01-27T09:14:16Z</dcterms:created>
  <dcterms:modified xsi:type="dcterms:W3CDTF">2013-01-27T09:15:58Z</dcterms:modified>
  <cp:category/>
</cp:coreProperties>
</file>